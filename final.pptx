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9" r:id="rId13"/>
    <p:sldId id="26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199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922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56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2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85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72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31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73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21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609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816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AEEE7-EDF1-4ECC-A510-B0943EE77834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73A4F-9A1E-40A9-BD29-38532021A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7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Видео-демонстрация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 smtClean="0"/>
              <a:t>Пономарёв</a:t>
            </a:r>
            <a:r>
              <a:rPr lang="ru-RU" dirty="0" smtClean="0"/>
              <a:t> Артём 14 группа 4 курс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8067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ВКР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Проблема: </a:t>
            </a:r>
            <a:r>
              <a:rPr lang="ru-RU" dirty="0" smtClean="0"/>
              <a:t>ДПО </a:t>
            </a:r>
            <a:r>
              <a:rPr lang="ru-RU" dirty="0" smtClean="0"/>
              <a:t>большие трудозатраты и сроки для административных операций</a:t>
            </a:r>
            <a:r>
              <a:rPr lang="en-US" dirty="0" smtClean="0"/>
              <a:t>; </a:t>
            </a:r>
            <a:r>
              <a:rPr lang="ru-RU" dirty="0" smtClean="0"/>
              <a:t>Вероятность ошибки</a:t>
            </a:r>
            <a:r>
              <a:rPr lang="en-US" dirty="0" smtClean="0"/>
              <a:t>;</a:t>
            </a:r>
            <a:r>
              <a:rPr lang="ru-RU" dirty="0" smtClean="0"/>
              <a:t> Аналоги громоздки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 smtClean="0"/>
              <a:t>Решение: </a:t>
            </a:r>
            <a:r>
              <a:rPr lang="ru-RU" b="1" dirty="0"/>
              <a:t> </a:t>
            </a:r>
            <a:r>
              <a:rPr lang="ru-RU" dirty="0"/>
              <a:t>веб-приложение для автоматизации административных процессов дополнительного образования (ДПО)</a:t>
            </a:r>
          </a:p>
        </p:txBody>
      </p:sp>
    </p:spTree>
    <p:extLst>
      <p:ext uri="{BB962C8B-B14F-4D97-AF65-F5344CB8AC3E}">
        <p14:creationId xmlns:p14="http://schemas.microsoft.com/office/powerpoint/2010/main" val="25370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1 - конкуренты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Топ 3:</a:t>
            </a:r>
          </a:p>
          <a:p>
            <a:r>
              <a:rPr lang="ru-RU" dirty="0"/>
              <a:t>1С: </a:t>
            </a:r>
            <a:r>
              <a:rPr lang="ru-RU" dirty="0" smtClean="0"/>
              <a:t>Университет</a:t>
            </a:r>
          </a:p>
          <a:p>
            <a:r>
              <a:rPr lang="ru-RU" dirty="0" smtClean="0"/>
              <a:t>Парус</a:t>
            </a:r>
          </a:p>
          <a:p>
            <a:r>
              <a:rPr lang="ru-RU" dirty="0"/>
              <a:t>Галактика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004582"/>
              </p:ext>
            </p:extLst>
          </p:nvPr>
        </p:nvGraphicFramePr>
        <p:xfrm>
          <a:off x="5093208" y="1624457"/>
          <a:ext cx="6455663" cy="43622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09344"/>
                <a:gridCol w="1051560"/>
                <a:gridCol w="822960"/>
                <a:gridCol w="882383"/>
                <a:gridCol w="696472"/>
                <a:gridCol w="696472"/>
                <a:gridCol w="696472"/>
              </a:tblGrid>
              <a:tr h="9065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1С: </a:t>
                      </a:r>
                      <a:r>
                        <a:rPr lang="en-US" sz="1400" dirty="0" err="1">
                          <a:effectLst/>
                        </a:rPr>
                        <a:t>Университет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1С: Учебный центр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GetCourse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Галактика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Парус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ВКР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</a:tr>
              <a:tr h="7252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Ведение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базы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студентов</a:t>
                      </a:r>
                      <a:r>
                        <a:rPr lang="en-US" sz="1400" dirty="0">
                          <a:effectLst/>
                        </a:rPr>
                        <a:t> / </a:t>
                      </a:r>
                      <a:r>
                        <a:rPr lang="en-US" sz="1400" dirty="0" err="1">
                          <a:effectLst/>
                        </a:rPr>
                        <a:t>слушателей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</a:tr>
              <a:tr h="12691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Управление курсами / программами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</a:tr>
              <a:tr h="7252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Интеграции с другими ИС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252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Импорт данных из Excel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676" marR="5067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009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1 - </a:t>
            </a:r>
            <a:r>
              <a:rPr lang="ru-RU" dirty="0"/>
              <a:t>Ключевые </a:t>
            </a:r>
            <a:r>
              <a:rPr lang="en-US" dirty="0" smtClean="0"/>
              <a:t>SLA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Доступность </a:t>
            </a:r>
            <a:r>
              <a:rPr lang="ru-RU" dirty="0" smtClean="0"/>
              <a:t>сервиса</a:t>
            </a:r>
          </a:p>
          <a:p>
            <a:r>
              <a:rPr lang="en-US" dirty="0" smtClean="0"/>
              <a:t>RTO</a:t>
            </a:r>
            <a:endParaRPr lang="ru-RU" dirty="0" smtClean="0"/>
          </a:p>
          <a:p>
            <a:r>
              <a:rPr lang="ru-RU" dirty="0"/>
              <a:t>Время </a:t>
            </a:r>
            <a:r>
              <a:rPr lang="ru-RU" dirty="0" smtClean="0"/>
              <a:t>импорта </a:t>
            </a:r>
            <a:r>
              <a:rPr lang="ru-RU" dirty="0"/>
              <a:t>данных из </a:t>
            </a:r>
            <a:r>
              <a:rPr lang="ru-RU" dirty="0" err="1"/>
              <a:t>Excel</a:t>
            </a:r>
            <a:r>
              <a:rPr lang="ru-RU" dirty="0"/>
              <a:t> </a:t>
            </a:r>
            <a:endParaRPr lang="ru-RU" dirty="0" smtClean="0"/>
          </a:p>
          <a:p>
            <a:r>
              <a:rPr lang="ru-RU" dirty="0"/>
              <a:t>У</a:t>
            </a:r>
            <a:r>
              <a:rPr lang="ru-RU" dirty="0" smtClean="0"/>
              <a:t>спешность импорта </a:t>
            </a:r>
            <a:r>
              <a:rPr lang="ru-RU" dirty="0"/>
              <a:t>данных из </a:t>
            </a:r>
            <a:r>
              <a:rPr lang="ru-RU" dirty="0" err="1"/>
              <a:t>Excel</a:t>
            </a:r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710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2 - Главный </a:t>
            </a:r>
            <a:r>
              <a:rPr lang="en-US" dirty="0" smtClean="0"/>
              <a:t>ITIL-</a:t>
            </a:r>
            <a:r>
              <a:rPr lang="ru-RU" dirty="0" smtClean="0"/>
              <a:t>процесс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544312" cy="4300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smtClean="0"/>
              <a:t>Управление инцидентами</a:t>
            </a:r>
          </a:p>
          <a:p>
            <a:pPr marL="0" indent="0">
              <a:buNone/>
            </a:pPr>
            <a:r>
              <a:rPr lang="ru-RU" dirty="0" smtClean="0"/>
              <a:t>Основные роли:</a:t>
            </a:r>
          </a:p>
          <a:p>
            <a:r>
              <a:rPr lang="ru-RU" dirty="0" smtClean="0"/>
              <a:t>Пользователь системы</a:t>
            </a:r>
          </a:p>
          <a:p>
            <a:r>
              <a:rPr lang="ru-RU" dirty="0" smtClean="0"/>
              <a:t>Администратор системы</a:t>
            </a:r>
          </a:p>
          <a:p>
            <a:r>
              <a:rPr lang="ru-RU" dirty="0" smtClean="0"/>
              <a:t>Разработчик</a:t>
            </a:r>
          </a:p>
          <a:p>
            <a:r>
              <a:rPr lang="ru-RU" dirty="0" err="1" smtClean="0"/>
              <a:t>DevOps</a:t>
            </a:r>
            <a:r>
              <a:rPr lang="ru-RU" dirty="0" smtClean="0"/>
              <a:t> / системный администратор</a:t>
            </a:r>
          </a:p>
          <a:p>
            <a:r>
              <a:rPr lang="ru-RU" dirty="0" smtClean="0"/>
              <a:t>Менеджер проекта</a:t>
            </a:r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513576" y="1825625"/>
            <a:ext cx="5544312" cy="4300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Ключевые этапы:</a:t>
            </a:r>
            <a:endParaRPr lang="ru-RU" dirty="0" smtClean="0">
              <a:effectLst/>
            </a:endParaRPr>
          </a:p>
          <a:p>
            <a:r>
              <a:rPr lang="ru-RU" dirty="0"/>
              <a:t>Регистрация и классификация</a:t>
            </a:r>
            <a:endParaRPr lang="ru-RU" dirty="0" smtClean="0">
              <a:effectLst/>
            </a:endParaRPr>
          </a:p>
          <a:p>
            <a:r>
              <a:rPr lang="ru-RU" dirty="0"/>
              <a:t>Первичная диагностика</a:t>
            </a:r>
            <a:endParaRPr lang="ru-RU" dirty="0" smtClean="0">
              <a:effectLst/>
            </a:endParaRPr>
          </a:p>
          <a:p>
            <a:r>
              <a:rPr lang="ru-RU" dirty="0"/>
              <a:t>Эскалация</a:t>
            </a:r>
            <a:endParaRPr lang="ru-RU" dirty="0" smtClean="0">
              <a:effectLst/>
            </a:endParaRPr>
          </a:p>
          <a:p>
            <a:r>
              <a:rPr lang="ru-RU" dirty="0"/>
              <a:t>Расследование и разрешение</a:t>
            </a:r>
            <a:endParaRPr lang="ru-RU" dirty="0" smtClean="0">
              <a:effectLst/>
            </a:endParaRPr>
          </a:p>
          <a:p>
            <a:r>
              <a:rPr lang="ru-RU" dirty="0"/>
              <a:t>Закрытие инцидента и коммуникация</a:t>
            </a:r>
            <a:endParaRPr lang="ru-RU" dirty="0" smtClean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9799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2 - </a:t>
            </a:r>
            <a:r>
              <a:rPr lang="en-US" dirty="0" smtClean="0"/>
              <a:t>RACI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710681"/>
              </p:ext>
            </p:extLst>
          </p:nvPr>
        </p:nvGraphicFramePr>
        <p:xfrm>
          <a:off x="838200" y="1441581"/>
          <a:ext cx="10515599" cy="54920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600884"/>
                <a:gridCol w="980678"/>
                <a:gridCol w="1088434"/>
                <a:gridCol w="1013302"/>
                <a:gridCol w="1029119"/>
                <a:gridCol w="933225"/>
                <a:gridCol w="869957"/>
              </a:tblGrid>
              <a:tr h="2140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 dirty="0">
                          <a:effectLst/>
                        </a:rPr>
                        <a:t>Действие</a:t>
                      </a:r>
                      <a:r>
                        <a:rPr lang="en-US" sz="1400" dirty="0">
                          <a:effectLst/>
                        </a:rPr>
                        <a:t> / </a:t>
                      </a:r>
                      <a:r>
                        <a:rPr lang="ru-RU" sz="1400" dirty="0">
                          <a:effectLst/>
                        </a:rPr>
                        <a:t>этап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ПС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АС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Р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D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dirty="0">
                          <a:effectLst/>
                        </a:rPr>
                        <a:t>МП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Регистрация инцидента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Первичная диагностика инцидента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R/A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 dirty="0">
                          <a:effectLst/>
                        </a:rPr>
                        <a:t>Устранение сбоя в работе системы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r>
                        <a:rPr lang="ru-RU" sz="1400">
                          <a:effectLst/>
                        </a:rPr>
                        <a:t>/</a:t>
                      </a:r>
                      <a:r>
                        <a:rPr lang="en-US" sz="1400">
                          <a:effectLst/>
                        </a:rPr>
                        <a:t> 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r>
                        <a:rPr lang="ru-RU" sz="1400">
                          <a:effectLst/>
                        </a:rPr>
                        <a:t>/ </a:t>
                      </a: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Анализ повторяющихся инцидентов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dirty="0">
                          <a:effectLst/>
                        </a:rPr>
                        <a:t>I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3628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Выявление корневой причины проблемы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347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Формирование запроса на изменение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Оценка влияния изменения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Реализация изменения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dirty="0">
                          <a:effectLst/>
                        </a:rPr>
                        <a:t>R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Внедрение изменения в среду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3628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Обновление конфигурационной информации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 dirty="0">
                          <a:effectLst/>
                        </a:rPr>
                        <a:t>Согласование</a:t>
                      </a:r>
                      <a:r>
                        <a:rPr lang="en-US" sz="1400" dirty="0">
                          <a:effectLst/>
                        </a:rPr>
                        <a:t> SLA и KPI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Мониторинг уровня и услуг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Обработка заявки на доступ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dirty="0">
                          <a:effectLst/>
                        </a:rPr>
                        <a:t>A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Назначение или отзыв прав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R/A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21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>
                          <a:effectLst/>
                        </a:rPr>
                        <a:t>Периодический пересмотр праы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  <a:tr h="3628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400" dirty="0">
                          <a:effectLst/>
                        </a:rPr>
                        <a:t>Подготовка отчета по качеству процесса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I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dirty="0">
                          <a:effectLst/>
                        </a:rPr>
                        <a:t>A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1648" marR="41648" marT="33318" marB="33318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57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3 -</a:t>
            </a:r>
            <a:r>
              <a:rPr lang="ru-RU" dirty="0" err="1" smtClean="0"/>
              <a:t>Дашборд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719451" y="1807464"/>
            <a:ext cx="6753098" cy="444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1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3 - Метрики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630976"/>
              </p:ext>
            </p:extLst>
          </p:nvPr>
        </p:nvGraphicFramePr>
        <p:xfrm>
          <a:off x="1179576" y="1825626"/>
          <a:ext cx="9957817" cy="44643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67943"/>
                <a:gridCol w="1406713"/>
                <a:gridCol w="1837157"/>
                <a:gridCol w="1730917"/>
                <a:gridCol w="2915087"/>
              </a:tblGrid>
              <a:tr h="2362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Метрика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Источник данных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Способ расчета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Периодичность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Ограничения и допущения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167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 smtClean="0">
                          <a:effectLst/>
                        </a:rPr>
                        <a:t>Доступность сервиса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Системный мониторинг, </a:t>
                      </a:r>
                      <a:r>
                        <a:rPr lang="en-US" sz="1200" dirty="0">
                          <a:effectLst/>
                        </a:rPr>
                        <a:t>heartbeat</a:t>
                      </a:r>
                      <a:r>
                        <a:rPr lang="ru-RU" sz="1200" dirty="0">
                          <a:effectLst/>
                        </a:rPr>
                        <a:t>-запросы, журналы доступности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Время штатной доступности / общее время наблюдения × 100%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Непрерывно, агрегация по часу и по месяцу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Краткие сетевые сбои могут давать ложные срабатывания; требуется фильтрация кратковременных колебаний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</a:tr>
              <a:tr h="6167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 smtClean="0">
                          <a:effectLst/>
                        </a:rPr>
                        <a:t>Время восстановления после сбоя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Тикет-система, журнал инцидентов, события мониторинга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Время от регистрации критического инцидента до подтвержденного восстановления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По каждому инциденту; итоговая агрегация еженедельно и ежемесячно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Требует корректной фиксации времени начала и завершения инцидента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</a:tr>
              <a:tr h="6167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 smtClean="0">
                          <a:effectLst/>
                        </a:rPr>
                        <a:t>Доля успешных импортов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Логи импорта, журнал загрузок, </a:t>
                      </a:r>
                      <a:r>
                        <a:rPr lang="en-US" sz="1200">
                          <a:effectLst/>
                        </a:rPr>
                        <a:t>backend</a:t>
                      </a:r>
                      <a:r>
                        <a:rPr lang="ru-RU" sz="1200">
                          <a:effectLst/>
                        </a:rPr>
                        <a:t>-события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Количество успешных импортов / общее число попыток × 100%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В реальном времени, агрегация по дню и неделе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Не все ошибки вызваны системой; часть связана с некорректным содержимым файла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</a:tr>
              <a:tr h="5215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 smtClean="0">
                          <a:effectLst/>
                        </a:rPr>
                        <a:t>Среднее время</a:t>
                      </a:r>
                      <a:r>
                        <a:rPr lang="ru-RU" sz="1200" baseline="0" dirty="0" smtClean="0">
                          <a:effectLst/>
                        </a:rPr>
                        <a:t> импорта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effectLst/>
                        </a:rPr>
                        <a:t>Логи импорта, backend-события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Среднее время от запуска операции до выдачи результата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По каждому импорту; итоговая агрегация по дню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Время зависит от объема файла и качества исходных данных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</a:tr>
              <a:tr h="7118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 smtClean="0">
                          <a:effectLst/>
                        </a:rPr>
                        <a:t>Доля</a:t>
                      </a:r>
                      <a:r>
                        <a:rPr lang="ru-RU" sz="1200" baseline="0" dirty="0" smtClean="0">
                          <a:effectLst/>
                        </a:rPr>
                        <a:t> успешной генерации документов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Логи генерации документов, </a:t>
                      </a:r>
                      <a:r>
                        <a:rPr lang="en-US" sz="1200">
                          <a:effectLst/>
                        </a:rPr>
                        <a:t>backend</a:t>
                      </a:r>
                      <a:r>
                        <a:rPr lang="ru-RU" sz="1200">
                          <a:effectLst/>
                        </a:rPr>
                        <a:t>-события, журнал ошибок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Количество успешных генераций / общее число попыток × 100%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>
                          <a:effectLst/>
                        </a:rPr>
                        <a:t>В реальном времени, с агрегацией по дню и неделе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Часть ошибок связана с качеством входных данных или шаблонов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887" marR="26887" marT="21509" marB="2150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85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4 – </a:t>
            </a:r>
            <a:r>
              <a:rPr lang="en-US" dirty="0" smtClean="0"/>
              <a:t>TCO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063110"/>
              </p:ext>
            </p:extLst>
          </p:nvPr>
        </p:nvGraphicFramePr>
        <p:xfrm>
          <a:off x="943577" y="1542163"/>
          <a:ext cx="5404274" cy="397772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78082"/>
                <a:gridCol w="2326192"/>
              </a:tblGrid>
              <a:tr h="2442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 smtClean="0">
                          <a:effectLst/>
                        </a:rPr>
                        <a:t>Статья затрат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 smtClean="0">
                          <a:effectLst/>
                        </a:rPr>
                        <a:t>Стоимость</a:t>
                      </a:r>
                      <a:r>
                        <a:rPr lang="en-US" sz="1200" dirty="0" smtClean="0">
                          <a:effectLst/>
                        </a:rPr>
                        <a:t>, </a:t>
                      </a:r>
                      <a:r>
                        <a:rPr lang="ru-RU" sz="1200" dirty="0" err="1" smtClean="0">
                          <a:effectLst/>
                        </a:rPr>
                        <a:t>руб</a:t>
                      </a:r>
                      <a:r>
                        <a:rPr lang="en-US" sz="1200" dirty="0" smtClean="0">
                          <a:effectLst/>
                        </a:rPr>
                        <a:t>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21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 err="1">
                          <a:effectLst/>
                        </a:rPr>
                        <a:t>Предпроектный</a:t>
                      </a:r>
                      <a:r>
                        <a:rPr lang="ru-RU" sz="1200" dirty="0">
                          <a:effectLst/>
                        </a:rPr>
                        <a:t> анализ и постановка требований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effectLst/>
                        </a:rPr>
                        <a:t>60 000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/>
                </a:tc>
              </a:tr>
              <a:tr h="4323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Разработка </a:t>
                      </a:r>
                      <a:r>
                        <a:rPr lang="en-US" sz="1200" dirty="0">
                          <a:effectLst/>
                        </a:rPr>
                        <a:t>backend</a:t>
                      </a:r>
                      <a:r>
                        <a:rPr lang="ru-RU" sz="1200" dirty="0">
                          <a:effectLst/>
                        </a:rPr>
                        <a:t> и бизнес-логики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effectLst/>
                        </a:rPr>
                        <a:t>180 000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/>
                </a:tc>
              </a:tr>
              <a:tr h="5421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Разработка </a:t>
                      </a:r>
                      <a:r>
                        <a:rPr lang="en-US" sz="1200" dirty="0">
                          <a:effectLst/>
                        </a:rPr>
                        <a:t>frontend</a:t>
                      </a:r>
                      <a:r>
                        <a:rPr lang="ru-RU" sz="1200" dirty="0">
                          <a:effectLst/>
                        </a:rPr>
                        <a:t> и пользовательского интерфейса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effectLst/>
                        </a:rPr>
                        <a:t>120 000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/>
                </a:tc>
              </a:tr>
              <a:tr h="5421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Настройка генерации документов и шаблонов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effectLst/>
                        </a:rPr>
                        <a:t>50 000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/>
                </a:tc>
              </a:tr>
              <a:tr h="5421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Внедрение, первичная настройка и миграция данных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effectLst/>
                        </a:rPr>
                        <a:t>70 000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/>
                </a:tc>
              </a:tr>
              <a:tr h="5421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Обучение сотрудников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25" marR="51425" marT="41140" marB="411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effectLst/>
                        </a:rPr>
                        <a:t>60 </a:t>
                      </a:r>
                      <a:r>
                        <a:rPr lang="en-US" sz="1200" dirty="0" smtClean="0">
                          <a:effectLst/>
                        </a:rPr>
                        <a:t>000</a:t>
                      </a:r>
                      <a:endParaRPr lang="ru-RU" sz="1200" b="1" dirty="0" smtClean="0">
                        <a:effectLst/>
                      </a:endParaRPr>
                    </a:p>
                  </a:txBody>
                  <a:tcPr marL="51425" marR="51425" marT="41140" marB="41140" anchor="ctr"/>
                </a:tc>
              </a:tr>
              <a:tr h="5421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Затраты на вывод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30 000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541734"/>
              </p:ext>
            </p:extLst>
          </p:nvPr>
        </p:nvGraphicFramePr>
        <p:xfrm>
          <a:off x="6912863" y="1542162"/>
          <a:ext cx="3319444" cy="396892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02537"/>
                <a:gridCol w="1316907"/>
              </a:tblGrid>
              <a:tr h="1928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Статья затрат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Ежегодно, руб.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657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Поддержка и сопровождение системы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effectLst/>
                        </a:rPr>
                        <a:t>120 000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/>
                </a:tc>
              </a:tr>
              <a:tr h="4571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Инфраструктура и хостинг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b="1" dirty="0">
                          <a:effectLst/>
                        </a:rPr>
                        <a:t>5</a:t>
                      </a:r>
                      <a:r>
                        <a:rPr lang="en-US" sz="1200" b="1" dirty="0">
                          <a:effectLst/>
                        </a:rPr>
                        <a:t>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/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Плановые доработки и обновления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effectLst/>
                        </a:rPr>
                        <a:t>50 000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/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Лицензии и подписки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b="1" dirty="0">
                          <a:effectLst/>
                        </a:rPr>
                        <a:t>10 000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/>
                </a:tc>
              </a:tr>
              <a:tr h="6021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Ежегодные косвенные затраты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b="1" dirty="0">
                          <a:effectLst/>
                        </a:rPr>
                        <a:t>20 000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/>
                </a:tc>
              </a:tr>
              <a:tr h="6021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dirty="0">
                          <a:effectLst/>
                        </a:rPr>
                        <a:t>Затраты на вывод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200" b="1" dirty="0">
                          <a:effectLst/>
                        </a:rPr>
                        <a:t>30 000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03" marR="35303" marT="28243" marB="28243" anchor="ctr"/>
                </a:tc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50520" y="5457521"/>
            <a:ext cx="6096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диновременные затраты - </a:t>
            </a:r>
            <a:r>
              <a:rPr lang="ru-RU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570 000 руб.</a:t>
            </a:r>
            <a:endParaRPr lang="ru-RU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347851" y="5482399"/>
            <a:ext cx="6096000" cy="45807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жегодные прямые затраты - </a:t>
            </a:r>
            <a:r>
              <a:rPr lang="ru-RU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250 000 руб.</a:t>
            </a:r>
            <a:endParaRPr lang="ru-RU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557613" y="5849657"/>
            <a:ext cx="8305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TCO = 570 000 + (250 000 × 3) </a:t>
            </a:r>
            <a:r>
              <a:rPr lang="ru-RU" sz="2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1 320 000 руб.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3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4 – Выгоды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903533"/>
              </p:ext>
            </p:extLst>
          </p:nvPr>
        </p:nvGraphicFramePr>
        <p:xfrm>
          <a:off x="838200" y="1756751"/>
          <a:ext cx="10134600" cy="456995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93842"/>
                <a:gridCol w="3534545"/>
                <a:gridCol w="2506213"/>
              </a:tblGrid>
              <a:tr h="251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 dirty="0">
                          <a:effectLst/>
                        </a:rPr>
                        <a:t>Прямая выгода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414" marR="22414" marT="17931" marB="1793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>
                          <a:effectLst/>
                        </a:rPr>
                        <a:t>Описание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414" marR="22414" marT="17931" marB="1793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 dirty="0">
                          <a:effectLst/>
                        </a:rPr>
                        <a:t>Денежный эффект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07" marR="242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099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 dirty="0">
                          <a:effectLst/>
                        </a:rPr>
                        <a:t>Снижение затрат за счет экономии рабочего времени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414" marR="22414" marT="17931" marB="179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>
                          <a:effectLst/>
                        </a:rPr>
                        <a:t>Автоматизация обработки данных обучающихся, импорта </a:t>
                      </a:r>
                      <a:r>
                        <a:rPr lang="en-US" sz="1600">
                          <a:effectLst/>
                        </a:rPr>
                        <a:t>Excel</a:t>
                      </a:r>
                      <a:r>
                        <a:rPr lang="ru-RU" sz="1600">
                          <a:effectLst/>
                        </a:rPr>
                        <a:t>-файлов и генерации документов позволяет сократить объем ручной работы сотрудников.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414" marR="22414" marT="17931" marB="179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 dirty="0">
                          <a:effectLst/>
                        </a:rPr>
                        <a:t>420 0</a:t>
                      </a:r>
                      <a:r>
                        <a:rPr lang="en-US" sz="1600" dirty="0">
                          <a:effectLst/>
                        </a:rPr>
                        <a:t>00 </a:t>
                      </a:r>
                      <a:r>
                        <a:rPr lang="en-US" sz="1600" dirty="0" err="1">
                          <a:effectLst/>
                        </a:rPr>
                        <a:t>руб</a:t>
                      </a:r>
                      <a:r>
                        <a:rPr lang="en-US" sz="1600" dirty="0">
                          <a:effectLst/>
                        </a:rPr>
                        <a:t>. в </a:t>
                      </a:r>
                      <a:r>
                        <a:rPr lang="en-US" sz="1600" dirty="0" err="1">
                          <a:effectLst/>
                        </a:rPr>
                        <a:t>год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07" marR="24207" marT="0" marB="0" anchor="ctr"/>
                </a:tc>
              </a:tr>
              <a:tr h="13777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 dirty="0">
                          <a:effectLst/>
                        </a:rPr>
                        <a:t>Снижение затрат на исправление ошибок и повторную обработку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414" marR="22414" marT="17931" marB="179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 dirty="0">
                          <a:effectLst/>
                        </a:rPr>
                        <a:t>Уменьшение числа ошибок после импорта и при подготовке документов сокращает объем ручных исправлений, повторных проверок и повторного ввода данных.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414" marR="22414" marT="17931" marB="179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r>
                        <a:rPr lang="ru-RU" sz="1600">
                          <a:effectLst/>
                        </a:rPr>
                        <a:t>5</a:t>
                      </a:r>
                      <a:r>
                        <a:rPr lang="en-US" sz="1600">
                          <a:effectLst/>
                        </a:rPr>
                        <a:t>0 000 руб. в год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07" marR="24207" marT="0" marB="0" anchor="ctr"/>
                </a:tc>
              </a:tr>
              <a:tr h="13777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 dirty="0">
                          <a:effectLst/>
                        </a:rPr>
                        <a:t>Снижение сверхурочной нагрузки в периоды пиковой работы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414" marR="22414" marT="17931" marB="179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 dirty="0">
                          <a:effectLst/>
                        </a:rPr>
                        <a:t>Ускорение подготовки документов и обработки данных уменьшает необходимость переработок в периоды повышенной нагрузки.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414" marR="22414" marT="17931" marB="179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u-RU" sz="1600" dirty="0">
                          <a:effectLst/>
                        </a:rPr>
                        <a:t>30 0</a:t>
                      </a:r>
                      <a:r>
                        <a:rPr lang="en-US" sz="1600" dirty="0">
                          <a:effectLst/>
                        </a:rPr>
                        <a:t>00 </a:t>
                      </a:r>
                      <a:r>
                        <a:rPr lang="en-US" sz="1600" dirty="0" err="1">
                          <a:effectLst/>
                        </a:rPr>
                        <a:t>руб</a:t>
                      </a:r>
                      <a:r>
                        <a:rPr lang="en-US" sz="1600" dirty="0">
                          <a:effectLst/>
                        </a:rPr>
                        <a:t>. в </a:t>
                      </a:r>
                      <a:r>
                        <a:rPr lang="en-US" sz="1600" dirty="0" err="1">
                          <a:effectLst/>
                        </a:rPr>
                        <a:t>год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07" marR="24207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3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4 – </a:t>
            </a:r>
            <a:r>
              <a:rPr lang="en-US" dirty="0" smtClean="0"/>
              <a:t>ROI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4640" y="1767840"/>
            <a:ext cx="11572240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2400" b="1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ROI </a:t>
            </a:r>
            <a:r>
              <a:rPr lang="ru-RU" sz="2400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 (1 650 000 − 1 320 000) / 1 320 000 × 100% </a:t>
            </a:r>
            <a:r>
              <a:rPr lang="ru-RU" sz="2400" b="1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2400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25,0%</a:t>
            </a:r>
            <a:endParaRPr lang="en-US" sz="2400" b="1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2400" b="1" dirty="0" smtClean="0"/>
              <a:t>Среднегодовой </a:t>
            </a:r>
            <a:r>
              <a:rPr lang="ru-RU" sz="2400" b="1" dirty="0"/>
              <a:t>чистый эффект = </a:t>
            </a:r>
            <a:r>
              <a:rPr lang="ru-RU" sz="2400" dirty="0"/>
              <a:t>(170 000 + 350 000 + 350 000) / 3 </a:t>
            </a:r>
            <a:r>
              <a:rPr lang="ru-RU" sz="2400" b="1" dirty="0"/>
              <a:t>= 290 000 </a:t>
            </a:r>
            <a:r>
              <a:rPr lang="ru-RU" sz="2400" b="1" dirty="0" smtClean="0"/>
              <a:t>руб.</a:t>
            </a:r>
            <a:endParaRPr lang="en-US" sz="2400" dirty="0" smtClean="0"/>
          </a:p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2400" b="1" dirty="0" smtClean="0"/>
              <a:t>Срок </a:t>
            </a:r>
            <a:r>
              <a:rPr lang="ru-RU" sz="2400" b="1" dirty="0"/>
              <a:t>окупаемости = </a:t>
            </a:r>
            <a:r>
              <a:rPr lang="ru-RU" sz="2400" dirty="0"/>
              <a:t>540 000 / 290 000 </a:t>
            </a:r>
            <a:r>
              <a:rPr lang="ru-RU" sz="2400" b="1" dirty="0"/>
              <a:t>≈ 1,86 года.</a:t>
            </a:r>
            <a:endParaRPr lang="ru-RU" sz="2400" dirty="0"/>
          </a:p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endParaRPr lang="ru-RU" sz="2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44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121152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/>
              <a:t>До правок:</a:t>
            </a:r>
          </a:p>
          <a:p>
            <a:pPr marL="0" indent="0">
              <a:buNone/>
            </a:pPr>
            <a:r>
              <a:rPr lang="ru-RU" dirty="0"/>
              <a:t>507 / 644 (~78,7</a:t>
            </a:r>
            <a:r>
              <a:rPr lang="ru-RU" dirty="0" smtClean="0"/>
              <a:t>%)</a:t>
            </a:r>
          </a:p>
          <a:p>
            <a:pPr marL="0" indent="0">
              <a:buNone/>
            </a:pPr>
            <a:r>
              <a:rPr lang="ru-RU" b="1" dirty="0" smtClean="0"/>
              <a:t>Хорошо</a:t>
            </a:r>
            <a:r>
              <a:rPr lang="ru-RU" dirty="0" smtClean="0"/>
              <a:t> </a:t>
            </a:r>
          </a:p>
          <a:p>
            <a:pPr marL="0" indent="0">
              <a:buNone/>
            </a:pPr>
            <a:r>
              <a:rPr lang="ru-RU" dirty="0" smtClean="0"/>
              <a:t>(</a:t>
            </a:r>
            <a:r>
              <a:rPr lang="ru-RU" dirty="0"/>
              <a:t>между «Хорошо»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и </a:t>
            </a:r>
            <a:r>
              <a:rPr lang="ru-RU" dirty="0"/>
              <a:t>«Отлично»)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6294120" y="1825625"/>
            <a:ext cx="31211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 smtClean="0"/>
              <a:t>После правок:</a:t>
            </a:r>
          </a:p>
          <a:p>
            <a:pPr marL="0" indent="0">
              <a:buNone/>
            </a:pPr>
            <a:r>
              <a:rPr lang="ru-RU" dirty="0"/>
              <a:t>559 / 644 (~86,8</a:t>
            </a:r>
            <a:r>
              <a:rPr lang="ru-RU" dirty="0" smtClean="0"/>
              <a:t>%)</a:t>
            </a:r>
          </a:p>
          <a:p>
            <a:pPr marL="0" indent="0">
              <a:buNone/>
            </a:pPr>
            <a:r>
              <a:rPr lang="ru-RU" b="1" dirty="0" smtClean="0"/>
              <a:t>Отлично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57728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FAQs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Что в ITIL у партнёра самое сильное и самое слабое</a:t>
            </a:r>
            <a:r>
              <a:rPr lang="ru-RU" dirty="0" smtClean="0"/>
              <a:t>?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Сколько было исправлений?</a:t>
            </a:r>
          </a:p>
          <a:p>
            <a:pPr marL="0" indent="0">
              <a:buNone/>
            </a:pPr>
            <a:r>
              <a:rPr lang="ru-RU" dirty="0"/>
              <a:t>Как вы отделяете аудит от </a:t>
            </a:r>
            <a:r>
              <a:rPr lang="ru-RU" dirty="0" smtClean="0"/>
              <a:t>«придирок»?</a:t>
            </a:r>
            <a:endParaRPr lang="en-US" dirty="0" smtClean="0"/>
          </a:p>
          <a:p>
            <a:pPr marL="0" indent="0">
              <a:buNone/>
            </a:pPr>
            <a:r>
              <a:rPr lang="ru-RU" dirty="0"/>
              <a:t>Связаны ли между собой четыре задания в работе студента?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93408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874</Words>
  <Application>Microsoft Office PowerPoint</Application>
  <PresentationFormat>Широкоэкранный</PresentationFormat>
  <Paragraphs>281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MS Mincho</vt:lpstr>
      <vt:lpstr>Times New Roman</vt:lpstr>
      <vt:lpstr>Тема Office</vt:lpstr>
      <vt:lpstr>Видео-демонстрация</vt:lpstr>
      <vt:lpstr>ВКР</vt:lpstr>
      <vt:lpstr>Задание 1 - конкуренты</vt:lpstr>
      <vt:lpstr>Задание 1 - Ключевые SLA</vt:lpstr>
      <vt:lpstr>Задание 2 - Главный ITIL-процесс </vt:lpstr>
      <vt:lpstr>Задание 2 - RACI</vt:lpstr>
      <vt:lpstr>Задание 3 -Дашборд</vt:lpstr>
      <vt:lpstr>Задание 3 - Метрики</vt:lpstr>
      <vt:lpstr>Задание 4 – TCO</vt:lpstr>
      <vt:lpstr>Задание 4 – Выгоды</vt:lpstr>
      <vt:lpstr>Задание 4 – ROI</vt:lpstr>
      <vt:lpstr>Итоги</vt:lpstr>
      <vt:lpstr>FAQs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Видео-демонстрация</dc:title>
  <dc:creator>void</dc:creator>
  <cp:lastModifiedBy>void</cp:lastModifiedBy>
  <cp:revision>11</cp:revision>
  <dcterms:created xsi:type="dcterms:W3CDTF">2026-05-11T17:02:29Z</dcterms:created>
  <dcterms:modified xsi:type="dcterms:W3CDTF">2026-05-11T19:35:41Z</dcterms:modified>
</cp:coreProperties>
</file>