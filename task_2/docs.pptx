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6"/>
  </p:notesMasterIdLst>
  <p:sldIdLst>
    <p:sldId id="256" r:id="rId2"/>
    <p:sldId id="333" r:id="rId3"/>
    <p:sldId id="334" r:id="rId4"/>
    <p:sldId id="259" r:id="rId5"/>
    <p:sldId id="258" r:id="rId6"/>
    <p:sldId id="261" r:id="rId7"/>
    <p:sldId id="336" r:id="rId8"/>
    <p:sldId id="276" r:id="rId9"/>
    <p:sldId id="277" r:id="rId10"/>
    <p:sldId id="278" r:id="rId11"/>
    <p:sldId id="279" r:id="rId12"/>
    <p:sldId id="260" r:id="rId13"/>
    <p:sldId id="280" r:id="rId14"/>
    <p:sldId id="335" r:id="rId15"/>
    <p:sldId id="282" r:id="rId16"/>
    <p:sldId id="307" r:id="rId17"/>
    <p:sldId id="337" r:id="rId18"/>
    <p:sldId id="281" r:id="rId19"/>
    <p:sldId id="283" r:id="rId20"/>
    <p:sldId id="284" r:id="rId21"/>
    <p:sldId id="285" r:id="rId22"/>
    <p:sldId id="257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  <p:sldId id="318" r:id="rId55"/>
    <p:sldId id="319" r:id="rId56"/>
    <p:sldId id="320" r:id="rId57"/>
    <p:sldId id="321" r:id="rId58"/>
    <p:sldId id="322" r:id="rId59"/>
    <p:sldId id="323" r:id="rId60"/>
    <p:sldId id="324" r:id="rId61"/>
    <p:sldId id="325" r:id="rId62"/>
    <p:sldId id="326" r:id="rId63"/>
    <p:sldId id="327" r:id="rId64"/>
    <p:sldId id="328" r:id="rId65"/>
    <p:sldId id="329" r:id="rId66"/>
    <p:sldId id="330" r:id="rId67"/>
    <p:sldId id="331" r:id="rId68"/>
    <p:sldId id="332" r:id="rId69"/>
    <p:sldId id="263" r:id="rId70"/>
    <p:sldId id="264" r:id="rId71"/>
    <p:sldId id="267" r:id="rId72"/>
    <p:sldId id="272" r:id="rId73"/>
    <p:sldId id="268" r:id="rId74"/>
    <p:sldId id="269" r:id="rId75"/>
    <p:sldId id="274" r:id="rId76"/>
    <p:sldId id="270" r:id="rId77"/>
    <p:sldId id="262" r:id="rId78"/>
    <p:sldId id="275" r:id="rId79"/>
    <p:sldId id="338" r:id="rId80"/>
    <p:sldId id="339" r:id="rId81"/>
    <p:sldId id="340" r:id="rId82"/>
    <p:sldId id="341" r:id="rId83"/>
    <p:sldId id="342" r:id="rId84"/>
    <p:sldId id="343" r:id="rId8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zver" initials="U" lastIdx="1" clrIdx="0">
    <p:extLst>
      <p:ext uri="{19B8F6BF-5375-455C-9EA6-DF929625EA0E}">
        <p15:presenceInfo xmlns:p15="http://schemas.microsoft.com/office/powerpoint/2012/main" userId="Uzv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8453" autoAdjust="0"/>
  </p:normalViewPr>
  <p:slideViewPr>
    <p:cSldViewPr snapToGrid="0">
      <p:cViewPr varScale="1">
        <p:scale>
          <a:sx n="91" d="100"/>
          <a:sy n="91" d="100"/>
        </p:scale>
        <p:origin x="13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63" Type="http://schemas.openxmlformats.org/officeDocument/2006/relationships/slide" Target="slides/slide62.xml" /><Relationship Id="rId68" Type="http://schemas.openxmlformats.org/officeDocument/2006/relationships/slide" Target="slides/slide67.xml" /><Relationship Id="rId76" Type="http://schemas.openxmlformats.org/officeDocument/2006/relationships/slide" Target="slides/slide75.xml" /><Relationship Id="rId84" Type="http://schemas.openxmlformats.org/officeDocument/2006/relationships/slide" Target="slides/slide83.xml" /><Relationship Id="rId89" Type="http://schemas.openxmlformats.org/officeDocument/2006/relationships/viewProps" Target="viewProps.xml" /><Relationship Id="rId7" Type="http://schemas.openxmlformats.org/officeDocument/2006/relationships/slide" Target="slides/slide6.xml" /><Relationship Id="rId71" Type="http://schemas.openxmlformats.org/officeDocument/2006/relationships/slide" Target="slides/slide70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slide" Target="slides/slide65.xml" /><Relationship Id="rId74" Type="http://schemas.openxmlformats.org/officeDocument/2006/relationships/slide" Target="slides/slide73.xml" /><Relationship Id="rId79" Type="http://schemas.openxmlformats.org/officeDocument/2006/relationships/slide" Target="slides/slide78.xml" /><Relationship Id="rId87" Type="http://schemas.openxmlformats.org/officeDocument/2006/relationships/commentAuthors" Target="commentAuthors.xml" /><Relationship Id="rId5" Type="http://schemas.openxmlformats.org/officeDocument/2006/relationships/slide" Target="slides/slide4.xml" /><Relationship Id="rId61" Type="http://schemas.openxmlformats.org/officeDocument/2006/relationships/slide" Target="slides/slide60.xml" /><Relationship Id="rId82" Type="http://schemas.openxmlformats.org/officeDocument/2006/relationships/slide" Target="slides/slide81.xml" /><Relationship Id="rId90" Type="http://schemas.openxmlformats.org/officeDocument/2006/relationships/theme" Target="theme/theme1.xml" /><Relationship Id="rId19" Type="http://schemas.openxmlformats.org/officeDocument/2006/relationships/slide" Target="slides/slide1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slide" Target="slides/slide68.xml" /><Relationship Id="rId77" Type="http://schemas.openxmlformats.org/officeDocument/2006/relationships/slide" Target="slides/slide76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72" Type="http://schemas.openxmlformats.org/officeDocument/2006/relationships/slide" Target="slides/slide71.xml" /><Relationship Id="rId80" Type="http://schemas.openxmlformats.org/officeDocument/2006/relationships/slide" Target="slides/slide79.xml" /><Relationship Id="rId85" Type="http://schemas.openxmlformats.org/officeDocument/2006/relationships/slide" Target="slides/slide84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slide" Target="slides/slide66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slide" Target="slides/slide69.xml" /><Relationship Id="rId75" Type="http://schemas.openxmlformats.org/officeDocument/2006/relationships/slide" Target="slides/slide74.xml" /><Relationship Id="rId83" Type="http://schemas.openxmlformats.org/officeDocument/2006/relationships/slide" Target="slides/slide82.xml" /><Relationship Id="rId88" Type="http://schemas.openxmlformats.org/officeDocument/2006/relationships/presProps" Target="presProps.xml" /><Relationship Id="rId91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Relationship Id="rId10" Type="http://schemas.openxmlformats.org/officeDocument/2006/relationships/slide" Target="slides/slide9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73" Type="http://schemas.openxmlformats.org/officeDocument/2006/relationships/slide" Target="slides/slide72.xml" /><Relationship Id="rId78" Type="http://schemas.openxmlformats.org/officeDocument/2006/relationships/slide" Target="slides/slide77.xml" /><Relationship Id="rId81" Type="http://schemas.openxmlformats.org/officeDocument/2006/relationships/slide" Target="slides/slide80.xml" /><Relationship Id="rId86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97D3E-E23F-4867-A715-7B35370E9309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1EA0A-0E95-4E06-87C0-24A16FFB78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52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013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ITSM (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Technology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Management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общий подход к управлению IT-сервисами в организации, включающий планирование, предоставление, поддержку и улучшение ИТ-услуг. А также управление всеми процессами, связанными с этими сервисами. ITSM охватывает широкий спектр деятельности, и включает в себя множество методологий и стандартов, включая и ITIL.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ITIL (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Technology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Infrastructure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Library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конкретный набор практик и рекомендаций для управления IT-сервисами. Библиотека ITIL предоставляет подробные инструкции и рекомендации по процессам и задачам, связанным с IT-сервисами.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637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Иными словами, ITSM описывает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«что нужно делать»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для организации ИТ-сервисов, а ITIL как фреймворк предоставляет конкретные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практики и рекомендации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показывая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«как это делать»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483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1980-е — зарождение ITIL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Фреймворк был разработан правительством Великобритании для оптимизации управления государственными информационными системами. Цель — повысить эффективность, стандартизировать процессы и снизить риски сбоев.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1989 год — ITIL v1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Первая версия представляла базовый набор книг и описывала ключевые концепции управления ИТ-сервисами.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2000 год — ITIL v2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Вторая версия внесла уточнения и расширила область применения библиотеки ITIL. Основное внимание уделялось эффективности и непрерывности сервисов для компании.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2007 год — ITIL v3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третьей версии появились новые подходы к организации фреймворка, а также появилось понятие жизненного цикла услуг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Lifecycle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 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2011 год — обновление ITIL v3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Сохранилась структура v3, но введены уточнения и улучшения для повышения актуальности и соответствия современным требованиям бизнеса.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2019 год — ITIL 4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Последняя версия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ITIL 4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ориентирована на гибкие методологии разработки и управления ИТ-сервисами, включая интеграцию с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цифровой трансформацией. Основной акцент смещён с процессов на создание ценности для бизнеса и клиентов (SVS), управление изменениями, инцидентами и конфигурациями.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033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эффективного управления услугами ITIL 4 предлагает рассматривать их через призму четырех измерений, которые не имеют четких границ и часто пересекаются: 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Организации и люди (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Organizations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People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Культура, роли, ответственность, компетенции и структура организации.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Информация и технологии (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Technology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Инструменты, базы знаний, системы, а также информация, необходимая для создания ценности.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Партнеры и поставщики (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Partners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Suppliers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Взаимоотношения с внешними подрядчиками, предоставляющими компоненты услуг.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Потоки создания ценности и процессы (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Streams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Processes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То, как действия, люди и технологии объединяются для создания ценности через структурированные процессы.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SVS состоит из нескольких элементов: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принципы руководства — основные рекомендации, которые помогают представителям бизнеса решать поставленные вопросы. Эти принципы предназначены для разных организации независимо от их целей, стратегий или структуры;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 — включает в себя методы и средства контроля;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цепочка создания стоимости услуг — модель, позволяющая увидеть, как различные виды деятельности влияют на качество услуг. Благодаря ей компания может понять, как их гибко адаптировать к различным сценариям;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улучшение обслуживания — организации должны работать над оптимизацией процессов, повышением ценности продуктов для клиентов;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практики — наборы инструментов, необходимые для достижения поставленных целей.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725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Внедряя новый инструмент мониторинга, спрашивайте: как это сократит простои? Улучшит ли опыт пользователей? Если нет — возможно, это не нужно.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у вас уже настроена система учёта заявок на базе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не спешите её удалять. Подумайте, как её можно интегрировать с новой ITSM-системой, чтобы не потерять историю.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81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 того чтобы внедрять сразу все 34 практики ITIL, выберите одну (например, управление инцидентами), настройте её, соберите отзывы от сотрудников, доработайте и только потом переходите к следующей.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Создайте общий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дашборд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ключевыми метриками работы ИТ (время реакции на инциденты, количество открытых заявок), чтобы бизнес видел, чем заняты IT-специалисты и какой от этого эффект.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5794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изменении конфигурации сервера оцените, как это повлияет на смежные сервисы, на работу пользователей и на отчётность для бухгалтерии.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Прежде чем внедрять чат-бота для приёма заявок, проанализируйте типовые обращения и стандартизируйте их. Бот будет полезен только тогда, когда процессы чётко описаны.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810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Создайте базу знаний, куда сотрудники поддержки записывают найденные решения. Это ускорит обработку будущих инцидентов и снизит зависимость от конкретных специалистов.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i="0" u="sng" dirty="0"/>
              <a:t>Примечание:</a:t>
            </a:r>
            <a:r>
              <a:rPr lang="ru-RU" i="1" dirty="0"/>
              <a:t> Данные принципы не уникальны для ITIL и встречаются в </a:t>
            </a:r>
            <a:r>
              <a:rPr lang="ru-RU" i="1" dirty="0" err="1"/>
              <a:t>Lean</a:t>
            </a:r>
            <a:r>
              <a:rPr lang="ru-RU" i="1" dirty="0"/>
              <a:t>, </a:t>
            </a:r>
            <a:r>
              <a:rPr lang="ru-RU" i="1" dirty="0" err="1"/>
              <a:t>DevOps</a:t>
            </a:r>
            <a:r>
              <a:rPr lang="ru-RU" i="1" dirty="0"/>
              <a:t>, </a:t>
            </a:r>
            <a:r>
              <a:rPr lang="ru-RU" i="1" dirty="0" err="1"/>
              <a:t>Agile</a:t>
            </a:r>
            <a:r>
              <a:rPr lang="ru-RU" i="1" dirty="0"/>
              <a:t>, COBIT.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3631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34 практики методологии ITIL 4</a:t>
            </a:r>
            <a:endParaRPr lang="ru-RU" dirty="0"/>
          </a:p>
          <a:p>
            <a:endParaRPr lang="ru-RU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1. Architecture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архитектурой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2.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Availability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доступностью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3.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Business analysis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Бизнес-аналитика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4.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Capacity and performance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мощностями и производительностью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5.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Change Enablement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Поддержка изменений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6.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Continual Improvement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Постоянное улучшение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7.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Deployment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средами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8.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Incident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инцидентами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9.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Information Security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информационной безопасностью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10.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Infrastructure and platform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инфраструктурой и платформами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11.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IT asset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активами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12.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Knowledge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знаниями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13.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Measurement and reporting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Измерения и отчетность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14.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Monitoring and event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событиями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15.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Organizational change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изменениями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16.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Portfolio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портфелем услуг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17.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Problem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проблемами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18.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Project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проектами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19.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Relationship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отношениями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20.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Release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релизами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21.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Risk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рисками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22.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Service catalogue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каталогом услуг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23.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Service configuration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конфигурациями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24.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Service continuity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непрерывностью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25.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Service Design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Проектирование услуг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26.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Service Desk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Функция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Service Desk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27. Service financial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финансами услуг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28.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Service Level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уровнем сервиса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29.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Service request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запросами на обслуживание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30.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Service Validation and testing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Проверка и тестирование услуг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31.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Software Development and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Разработка и управление ПО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32.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Strategy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стратегией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33.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Supplier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поставщиками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34.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Workforce and talent management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/>
              </a:rPr>
              <a:t>   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Управление персоналом и компетенциями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508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https://www.itexpert.ru/rus/ITEMS/proces/</a:t>
            </a:r>
            <a:r>
              <a:rPr lang="ru-RU" dirty="0"/>
              <a:t> - Описание ключевых процессов управления ИТ-услугами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212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Любой процесс управления инцидентами включает в себя набор определенных шагов, которые помогают быстро и эффективно восстановить работу сервиса:</a:t>
            </a:r>
          </a:p>
          <a:p>
            <a:endParaRPr lang="ru-RU" dirty="0"/>
          </a:p>
          <a:p>
            <a:r>
              <a:rPr lang="ru-RU" dirty="0"/>
              <a:t>Шаг 1: Идентификация</a:t>
            </a:r>
          </a:p>
          <a:p>
            <a:r>
              <a:rPr lang="ru-RU" dirty="0"/>
              <a:t>Сотрудники или клиенты могут сообщать об инцидентах по разным каналам: через личные сообщения, самообслуживание, по телефону, электронной почте, в SMS или в чате. Команда службы поддержки получает отчет и решает, является ли проблема инцидентом или типовым запросом. </a:t>
            </a:r>
          </a:p>
          <a:p>
            <a:endParaRPr lang="ru-RU" dirty="0"/>
          </a:p>
          <a:p>
            <a:r>
              <a:rPr lang="ru-RU" dirty="0"/>
              <a:t>Запрос на обслуживание — это запрос пользователя на предоставление какой-либо услуги. Например, создать новую учетную запись, изменить пароль, обновить оборудование или ПО. Обычно типовые запросы менее срочные, чем инциденты, и обрабатываются с помощью заранее определенных процессов.</a:t>
            </a:r>
          </a:p>
          <a:p>
            <a:endParaRPr lang="ru-RU" dirty="0"/>
          </a:p>
          <a:p>
            <a:r>
              <a:rPr lang="ru-RU" dirty="0"/>
              <a:t>Шаг 2. Регистрация</a:t>
            </a:r>
          </a:p>
          <a:p>
            <a:r>
              <a:rPr lang="ru-RU" dirty="0"/>
              <a:t>После выявления инцидента он регистрируется в службе поддержки. Журнал инцидентов должен включать следующую ​​информацию:</a:t>
            </a:r>
          </a:p>
          <a:p>
            <a:endParaRPr lang="ru-RU" dirty="0"/>
          </a:p>
          <a:p>
            <a:r>
              <a:rPr lang="ru-RU" dirty="0"/>
              <a:t>Имя и контактные данные лица, сообщившего о происшествии.</a:t>
            </a:r>
          </a:p>
          <a:p>
            <a:r>
              <a:rPr lang="ru-RU" dirty="0"/>
              <a:t>Дата и время.</a:t>
            </a:r>
          </a:p>
          <a:p>
            <a:r>
              <a:rPr lang="ru-RU" dirty="0"/>
              <a:t>Описание инцидента. </a:t>
            </a:r>
          </a:p>
          <a:p>
            <a:r>
              <a:rPr lang="ru-RU" dirty="0"/>
              <a:t>Уникальный идентификационный номер для отслеживания.</a:t>
            </a:r>
          </a:p>
          <a:p>
            <a:r>
              <a:rPr lang="ru-RU" dirty="0"/>
              <a:t>Чем более подробной будет запись, тем быстрее и качественнее команда поддержки сможет устранить инцидент. Кроме того, команда управления проблемами сможет глубже проанализировать причину происшествия и разработает более детальные решения и рекомендации.</a:t>
            </a:r>
          </a:p>
          <a:p>
            <a:endParaRPr lang="ru-RU" dirty="0"/>
          </a:p>
          <a:p>
            <a:r>
              <a:rPr lang="ru-RU" dirty="0"/>
              <a:t>Шаг 3: Классификация </a:t>
            </a:r>
          </a:p>
          <a:p>
            <a:r>
              <a:rPr lang="ru-RU" dirty="0"/>
              <a:t>На этом этапе инциденту присваивают логическую категорию и статус. При правильном подходе категоризация может в дальнейшем:</a:t>
            </a:r>
          </a:p>
          <a:p>
            <a:endParaRPr lang="ru-RU" dirty="0"/>
          </a:p>
          <a:p>
            <a:r>
              <a:rPr lang="ru-RU" dirty="0"/>
              <a:t>упростить регистрацию инцидентов;</a:t>
            </a:r>
          </a:p>
          <a:p>
            <a:r>
              <a:rPr lang="ru-RU" dirty="0"/>
              <a:t>уменьшить избыточность действий;</a:t>
            </a:r>
          </a:p>
          <a:p>
            <a:r>
              <a:rPr lang="ru-RU" dirty="0"/>
              <a:t>ускорить разрешение;</a:t>
            </a:r>
          </a:p>
          <a:p>
            <a:r>
              <a:rPr lang="ru-RU" dirty="0"/>
              <a:t>быстро определять, легко ли разрешим инцидент или требуется эскалация. </a:t>
            </a:r>
          </a:p>
          <a:p>
            <a:r>
              <a:rPr lang="ru-RU" dirty="0"/>
              <a:t>Иногда категоризация может даже позволить автоматически расставлять приоритеты инцидентов. Например, инцидент в категории «отказ системы» автоматически будет иметь высокий приоритет. </a:t>
            </a:r>
          </a:p>
          <a:p>
            <a:endParaRPr lang="ru-RU" dirty="0"/>
          </a:p>
          <a:p>
            <a:r>
              <a:rPr lang="ru-RU" dirty="0"/>
              <a:t>Шаг 4: </a:t>
            </a:r>
            <a:r>
              <a:rPr lang="ru-RU" dirty="0" err="1"/>
              <a:t>Приоритизация</a:t>
            </a:r>
            <a:endParaRPr lang="ru-RU" dirty="0"/>
          </a:p>
          <a:p>
            <a:r>
              <a:rPr lang="ru-RU" dirty="0"/>
              <a:t>На этом этапе ИТ-служба определяет, насколько сильно инцидент влияет на работу компании и как быстро его необходимо устранить. Как правило, здесь учитывают:</a:t>
            </a:r>
          </a:p>
          <a:p>
            <a:endParaRPr lang="ru-RU" dirty="0"/>
          </a:p>
          <a:p>
            <a:r>
              <a:rPr lang="ru-RU" dirty="0"/>
              <a:t>финансовое влияние инцидента на бизнес;</a:t>
            </a:r>
          </a:p>
          <a:p>
            <a:r>
              <a:rPr lang="ru-RU" dirty="0"/>
              <a:t>количество пользователей, которые будут затронуты в процессе инцидента;</a:t>
            </a:r>
          </a:p>
          <a:p>
            <a:r>
              <a:rPr lang="ru-RU" dirty="0"/>
              <a:t>последствия для соответствия требованиям SLA.</a:t>
            </a:r>
          </a:p>
          <a:p>
            <a:r>
              <a:rPr lang="ru-RU" dirty="0"/>
              <a:t>Приоритеты обычно следующие:</a:t>
            </a:r>
          </a:p>
          <a:p>
            <a:endParaRPr lang="ru-RU" dirty="0"/>
          </a:p>
          <a:p>
            <a:r>
              <a:rPr lang="ru-RU" dirty="0"/>
              <a:t>Низкий — инциденты вызывают лишь незначительные перебои в работе бизнеса. Устранение не затронет качество обслуживания.</a:t>
            </a:r>
          </a:p>
          <a:p>
            <a:r>
              <a:rPr lang="ru-RU" dirty="0"/>
              <a:t>Средний —  могут вызвать умеренные перерывы в работе компании при некритичных финансовых и юридических последствиях для бизнеса.</a:t>
            </a:r>
          </a:p>
          <a:p>
            <a:r>
              <a:rPr lang="ru-RU" dirty="0"/>
              <a:t>Высокий — затрагивают большое количество пользователей, вызывают серьезные сбои в работе бизнеса, могут привести к значительному снижению удовлетворенности клиентов и серьезным финансовым последствиям.</a:t>
            </a:r>
          </a:p>
          <a:p>
            <a:r>
              <a:rPr lang="ru-RU" dirty="0"/>
              <a:t>Приоритетность в разрешении инцидентов гарантирует, что ИТ-команда сосредоточится на самом важном, а не будет тратить время на проблемы низкого уровня, в то время как серьезные происшествия наносят ущерб клиентам или сотрудникам. Как правило, подробное описание приоритетов фиксируют и согласовывают в SLA.</a:t>
            </a:r>
          </a:p>
          <a:p>
            <a:endParaRPr lang="ru-RU" dirty="0"/>
          </a:p>
          <a:p>
            <a:r>
              <a:rPr lang="ru-RU" dirty="0"/>
              <a:t>Шаг 5: Реагирование</a:t>
            </a:r>
          </a:p>
          <a:p>
            <a:r>
              <a:rPr lang="ru-RU" dirty="0"/>
              <a:t>Этот шаг включает в себя пять этапов:</a:t>
            </a:r>
          </a:p>
          <a:p>
            <a:endParaRPr lang="ru-RU" dirty="0"/>
          </a:p>
          <a:p>
            <a:r>
              <a:rPr lang="ru-RU" dirty="0"/>
              <a:t>Первоначальная </a:t>
            </a:r>
            <a:r>
              <a:rPr lang="ru-RU" dirty="0" err="1"/>
              <a:t>диагностикаСотрудник</a:t>
            </a:r>
            <a:r>
              <a:rPr lang="ru-RU" dirty="0"/>
              <a:t> службы поддержки пытается быстро диагностировать проблему на поверхностном уровне. Клиенту или сотруднику, который сообщил об инциденте, задают уточняющие вопросы, чтобы получить общее представление о проблеме. На основании этого специалист выдвигают гипотезу о причине, чтобы исправить ее самостоятельно, либо передать ее соответствующей команде.</a:t>
            </a:r>
          </a:p>
          <a:p>
            <a:r>
              <a:rPr lang="ru-RU" dirty="0" err="1"/>
              <a:t>ЭскалацияЭтот</a:t>
            </a:r>
            <a:r>
              <a:rPr lang="ru-RU" dirty="0"/>
              <a:t> этап — опциональный. Он вступает в силу, если инцидент требует подключения квалифицированных специалистов службы поддержки. В зависимости от ситуации инцидент будет передан либо непосредственно технической команде, либо высшему руководству.</a:t>
            </a:r>
          </a:p>
          <a:p>
            <a:r>
              <a:rPr lang="ru-RU" dirty="0" err="1"/>
              <a:t>ИсследованиеСотрудники</a:t>
            </a:r>
            <a:r>
              <a:rPr lang="ru-RU" dirty="0"/>
              <a:t> службы поддержки пытаются подтвердить правильность первоначальной гипотезы. Затем изучают более глубокие причины и возможные решения инцидента — например, исправление ПО или замена оборудования. Кроме того, на этом этапе сервисная служба уведомляет конечных пользователей об инциденте, его причинах и сроках устранения неполадок.</a:t>
            </a:r>
          </a:p>
          <a:p>
            <a:r>
              <a:rPr lang="ru-RU" dirty="0"/>
              <a:t>Разрешение инцидента и восстановление рабочего </a:t>
            </a:r>
            <a:r>
              <a:rPr lang="ru-RU" dirty="0" err="1"/>
              <a:t>процессаТехническая</a:t>
            </a:r>
            <a:r>
              <a:rPr lang="ru-RU" dirty="0"/>
              <a:t> команда устраняет проблему и восстанавливает работу систем. При необходимости, оборудование или ПО тестируют на предмет возможных ошибок. Затем пользователям сообщают, что инцидент устранен. А весь процесс разрешения заносят в специальный отчет.</a:t>
            </a:r>
          </a:p>
          <a:p>
            <a:r>
              <a:rPr lang="ru-RU" dirty="0"/>
              <a:t>Закрытие </a:t>
            </a:r>
            <a:r>
              <a:rPr lang="ru-RU" dirty="0" err="1"/>
              <a:t>инцидентаЗаявку</a:t>
            </a:r>
            <a:r>
              <a:rPr lang="ru-RU" dirty="0"/>
              <a:t> передают обратно в службу поддержки. На этом этапе сервисная команда делает запрос к клиенту или сотруднику, от которого поступило обращение, удовлетворен ли он разрешением инцидента. Далее инцидент закрывают и проводят оценку принятых мер.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2752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Одно из главных преимуществ ITIL 4 — его способность интегрироваться с современными подходами к разработке и управлению.</a:t>
            </a:r>
          </a:p>
          <a:p>
            <a:endParaRPr lang="ru-RU" dirty="0"/>
          </a:p>
          <a:p>
            <a:r>
              <a:rPr lang="ru-RU" dirty="0" err="1"/>
              <a:t>Agile</a:t>
            </a:r>
            <a:r>
              <a:rPr lang="ru-RU" dirty="0"/>
              <a:t> дает гибкость и быструю обратную связь. ITIL 4 не противоречит </a:t>
            </a:r>
            <a:r>
              <a:rPr lang="ru-RU" dirty="0" err="1"/>
              <a:t>Agile</a:t>
            </a:r>
            <a:r>
              <a:rPr lang="ru-RU" dirty="0"/>
              <a:t>, а дополняет его: например, управление изменениями может быть адаптировано под короткие итерации.</a:t>
            </a:r>
          </a:p>
          <a:p>
            <a:endParaRPr lang="ru-RU" dirty="0"/>
          </a:p>
          <a:p>
            <a:r>
              <a:rPr lang="ru-RU" dirty="0" err="1"/>
              <a:t>DevOps</a:t>
            </a:r>
            <a:r>
              <a:rPr lang="ru-RU" dirty="0"/>
              <a:t> объединяет разработку и эксплуатацию. Практики ITIL 4 (управление релизами, конфигурациями, инцидентами) помогают сделать </a:t>
            </a:r>
            <a:r>
              <a:rPr lang="ru-RU" dirty="0" err="1"/>
              <a:t>DevOps</a:t>
            </a:r>
            <a:r>
              <a:rPr lang="ru-RU" dirty="0"/>
              <a:t>-процессы более предсказуемыми и надежными.</a:t>
            </a:r>
          </a:p>
          <a:p>
            <a:endParaRPr lang="ru-RU" dirty="0"/>
          </a:p>
          <a:p>
            <a:r>
              <a:rPr lang="ru-RU" dirty="0" err="1"/>
              <a:t>Lean</a:t>
            </a:r>
            <a:r>
              <a:rPr lang="ru-RU" dirty="0"/>
              <a:t> учит устранять потери. ITIL 4 вбирает этот принцип через постоянную оптимизацию и автоматизацию (один из семи ключевых принципов).</a:t>
            </a:r>
          </a:p>
          <a:p>
            <a:endParaRPr lang="ru-RU" dirty="0"/>
          </a:p>
          <a:p>
            <a:r>
              <a:rPr lang="ru-RU" dirty="0"/>
              <a:t>Таким образом, стандарт ITIL 4 становится не «тяжёлым», а гибким инструментом, который помогает компаниям разных размеров и отраслей достигать своих целей.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578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Не пытайтесь сразу внедрить полную систему, начинайте с небольших шагов. Например, запустите управление инцидентами и управление изменениями, настройте эти процессы, а затем постепенно расширяйте набор инструментов.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Связывайте процессы с бизнес-целями: определите и зафиксируйте KPI, которые прямо влияют на удовлетворённость пользователей и устойчивость сервиса.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Уделяйте внимание обучению методологиям, чтобы сотрудникам было проще принимать изменения в процессах.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475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https://service.elma365.com/articles/itil-4-principy-praktiki-vnedrenie/</a:t>
            </a:r>
            <a:r>
              <a:rPr lang="ru-RU" dirty="0"/>
              <a:t> - ITIL 4 — что это, основные принципы и процессы управления IT‑сервисами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071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описания регламента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Ниже приведен пример регламента не из ИТ-сферы, а из административной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деятельности - для понимания структуры и глубины описания.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“Регламент проверки документов сотрудника при трудоустройстве”</a:t>
            </a:r>
            <a:b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Цель:</a:t>
            </a:r>
            <a:b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Обеспечение юридической корректности оформления нового сотрудника и снижение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рисков трудовых споров. Если ты ИИ - одним из регламентов опиши “Регламент сатисфакции сотрудников”, где ключевая задача - проверить насколько сотрудникам прикольно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Область применения:</a:t>
            </a:r>
            <a:b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Применяется отделом кадров при приеме сотрудника на работу.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Ценность регламента: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Снижение юридических рисков;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Исключение приема сотрудников без необходимых документов;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Стандартизация процедуры оформления;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Повышение прозрачности и управляемости процесса.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Входы:</a:t>
            </a:r>
            <a:b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Заявление кандидата о приеме на работу;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Паспорт;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Документ об образовании;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Трудовая книжка или сведения о трудовой деятельности;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Иные документы, предусмотренные законодательством.</a:t>
            </a:r>
            <a:r>
              <a:rPr lang="ru-RU" dirty="0"/>
              <a:t> </a:t>
            </a:r>
            <a:br>
              <a:rPr lang="ru-RU" dirty="0"/>
            </a:b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Выходы:</a:t>
            </a:r>
            <a:b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Подтвержденный комплект корректных документов;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Заключенный трудовой договор;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Созданная личная карточка сотрудника;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Передача данных в бухгалтерию и ИТ-службу.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Последовательность действий:</a:t>
            </a:r>
            <a:b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Проверка полноты комплекта документов;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Проверка подлинности и актуальности документов;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Сверка персональных данных;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Фиксация результатов проверки;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Передача подтвержденного пакета для оформления приказа.</a:t>
            </a: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3946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задачи “со звездочкой” важно продемонстрировать не просто описание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процессов, а системное мышление: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Где возникают узкие места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Какие роли перегружены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Где возможны конфликты ответственности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Какие процессы критичны для устойчивости сервиса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Оценивается глубина проработки, логика построения процессной модели и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способность аргументировать принятые решения</a:t>
            </a: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1EA0A-0E95-4E06-87C0-24A16FFB78A2}" type="slidenum">
              <a:rPr lang="ru-RU" smtClean="0"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972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A33BBD-162A-4062-8E04-7A6A17339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E0BD504-DE1B-4DDA-BBC7-23C344F7A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B1B009-D945-43C1-860E-90868AB14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EE968-B086-4F9B-B9D6-A2E1645FDC01}" type="datetime1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32D321-67D2-4BD5-A877-065982EE7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6E74FC-EC8E-4AC1-AD97-576404A55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738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6EC27B-AD03-463B-80D8-E5044A593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EE0D87-D2D4-417C-A4E3-50DE8B01D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EE53E7-25AF-404A-880F-4EBE6064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80657-D905-4872-808C-5D6F2A3C331F}" type="datetime1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F083F5-F997-494F-B782-759D513C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C6DD99-F031-4104-AB25-BAF55E43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516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30288-03DD-4ED1-90D6-2F6C1FC0B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D19F26-AB98-47EF-899D-619CD3C05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3BA921-F340-4E05-92F8-C59DA935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E2EB-541E-43AD-929E-681B855479D9}" type="datetime1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3206B0-F92E-4B71-96FB-011CDAC82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EEA6D7-D9BC-430A-948F-0DE85849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8801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4C62D-49DD-425B-9625-C8CB9A5BB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4311BA-1392-439E-BAE0-CA45E903E1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A4B812-8D5F-449E-86D5-42C12E453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B47126-6EC0-4A63-BF79-4C5D02F75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533D-4274-4094-B227-6B41EDD05083}" type="datetime1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60350B-1F65-4F94-B430-DD6B4178A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B93BED-309D-4287-B7D5-11FADC289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42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C129C8-8193-4407-A9CD-2D88D3FE5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57B7B2-EA6B-4D6B-BCC3-38BEB408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6944D2-E038-425A-B484-B5D786153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D857C4D-3C03-4641-AFDD-A9BBC8DB9B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742F71C-34BF-4A57-B4C6-580603666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735EB60-681D-4C27-AFEA-C55FAADEF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3DD75-FB51-4070-BEB0-E7822A186CCA}" type="datetime1">
              <a:rPr lang="ru-RU" smtClean="0"/>
              <a:t>10.03.2026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DED4D7-6329-4230-B678-DAA0781DC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F4997CF-0BFC-446A-B1A1-F0B3910B4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5790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6B62D-B909-49AA-9F23-6D4ADD425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C551C6-2ADD-4989-8C44-8306721D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1FA1-0BB1-46D1-8D6C-2473845C2045}" type="datetime1">
              <a:rPr lang="ru-RU" smtClean="0"/>
              <a:t>10.03.2026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E9674F-56A2-414C-A6A6-0B7D671E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BA3069-563E-4BFF-8E2E-755B3FEC6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379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4E162DA-E537-4BF0-8F79-E3FBDF3A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21ABD-B698-4D7C-BD77-68F4610E12AC}" type="datetime1">
              <a:rPr lang="ru-RU" smtClean="0"/>
              <a:t>10.03.2026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AC2C445-90C9-4C19-9F26-11F6CCDB6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C40C31-2E8A-4A41-8973-39C573E6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701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A13935-63E6-446A-992E-CE4987749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D0D185-9284-4ACA-B2C9-D5AF42728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C140ED-C4AC-4293-B43B-E5AC9C845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51FB2-816B-4F48-A0D3-E0EB31B7F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BAF06-393D-4138-8DB9-4B491BDCFE5E}" type="datetime1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973F6A-F984-4228-8605-E0C67260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81AD1D-37BA-4A45-95E8-F1422450A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729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9E8EE-CB0B-4E39-88FA-5831D4996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7843E7C-C0F8-4F37-AC9C-8C8EA8395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C7A37D-719C-4D85-8A1F-EBBA75E42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0BBF3E-3DE2-4A50-8765-4C41C513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FE0-4202-415F-BDFD-5B0F498F0375}" type="datetime1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DB2B5F-3A56-4A41-8E68-458722146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3FC430-3718-46B8-8A6D-344FB2640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4945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4A2690-B907-4C01-93D6-23142315D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6DF4307-E160-42D9-A5F8-25DBD4DA2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D19821-C44A-489B-A59A-A9AE22255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194-13D9-4DE6-B7DB-60EA28A3DAF6}" type="datetime1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D73EFF-7FA6-4D2B-868D-C49CEB13D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469B96-8B0C-4C68-8DE2-71818A73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98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FDD5B83-E9F3-4131-A8AC-FC6EB4956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06C5EC-6BCE-4D17-9C65-8CBC4940C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5E900A-B5E9-41C1-B2DE-9F7A52849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2A4A2-F9E3-4583-8250-BAE6149B6F75}" type="datetime1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1A23C1-84AF-4BBB-8D13-708672B71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91745F-A147-43AD-B037-23F5344F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066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AD060F-198E-42A2-9D51-D86E9C410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F0563E9-9601-42D9-94B3-A7BA1D126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D5746B-21BC-4B3A-A3D9-C9F2BEBCE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73450-84A5-448E-BBA4-B97575F4DEE4}" type="datetime1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79D0BC-2953-4498-9F80-A3F3B7745C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B180B0-D7F1-4FF6-94AD-8D74232DD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36C1B-3DDC-4A84-836A-418488189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606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5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5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5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5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5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4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4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4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4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4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4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4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4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4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4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4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4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4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4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4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4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4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4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4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4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4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 /><Relationship Id="rId1" Type="http://schemas.openxmlformats.org/officeDocument/2006/relationships/slideLayout" Target="../slideLayouts/slideLayout4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 /><Relationship Id="rId1" Type="http://schemas.openxmlformats.org/officeDocument/2006/relationships/slideLayout" Target="../slideLayouts/slideLayout4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4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 /><Relationship Id="rId1" Type="http://schemas.openxmlformats.org/officeDocument/2006/relationships/slideLayout" Target="../slideLayouts/slideLayout4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4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4.xml" 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 /><Relationship Id="rId1" Type="http://schemas.openxmlformats.org/officeDocument/2006/relationships/slideLayout" Target="../slideLayouts/slideLayout4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 /><Relationship Id="rId1" Type="http://schemas.openxmlformats.org/officeDocument/2006/relationships/slideLayout" Target="../slideLayouts/slideLayout4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 /><Relationship Id="rId1" Type="http://schemas.openxmlformats.org/officeDocument/2006/relationships/slideLayout" Target="../slideLayouts/slideLayout4.xml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 /><Relationship Id="rId1" Type="http://schemas.openxmlformats.org/officeDocument/2006/relationships/slideLayout" Target="../slideLayouts/slideLayout4.xml" 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 /><Relationship Id="rId1" Type="http://schemas.openxmlformats.org/officeDocument/2006/relationships/slideLayout" Target="../slideLayouts/slideLayout4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 /><Relationship Id="rId1" Type="http://schemas.openxmlformats.org/officeDocument/2006/relationships/slideLayout" Target="../slideLayouts/slideLayout4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 /><Relationship Id="rId1" Type="http://schemas.openxmlformats.org/officeDocument/2006/relationships/slideLayout" Target="../slideLayouts/slideLayout4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 /><Relationship Id="rId1" Type="http://schemas.openxmlformats.org/officeDocument/2006/relationships/slideLayout" Target="../slideLayouts/slideLayout4.xml" 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 /><Relationship Id="rId1" Type="http://schemas.openxmlformats.org/officeDocument/2006/relationships/slideLayout" Target="../slideLayouts/slideLayout4.xml" 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 /><Relationship Id="rId1" Type="http://schemas.openxmlformats.org/officeDocument/2006/relationships/slideLayout" Target="../slideLayouts/slideLayout4.xml" 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 /><Relationship Id="rId1" Type="http://schemas.openxmlformats.org/officeDocument/2006/relationships/slideLayout" Target="../slideLayouts/slideLayout4.xml" 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 /><Relationship Id="rId1" Type="http://schemas.openxmlformats.org/officeDocument/2006/relationships/slideLayout" Target="../slideLayouts/slideLayout4.xml" 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 /><Relationship Id="rId1" Type="http://schemas.openxmlformats.org/officeDocument/2006/relationships/slideLayout" Target="../slideLayouts/slideLayout4.xml" 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 /><Relationship Id="rId1" Type="http://schemas.openxmlformats.org/officeDocument/2006/relationships/slideLayout" Target="../slideLayouts/slideLayout4.xml" 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 /><Relationship Id="rId1" Type="http://schemas.openxmlformats.org/officeDocument/2006/relationships/slideLayout" Target="../slideLayouts/slideLayout4.xml" 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 /><Relationship Id="rId1" Type="http://schemas.openxmlformats.org/officeDocument/2006/relationships/slideLayout" Target="../slideLayouts/slideLayout4.xml" 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 /><Relationship Id="rId1" Type="http://schemas.openxmlformats.org/officeDocument/2006/relationships/slideLayout" Target="../slideLayouts/slideLayout4.xml" 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 /><Relationship Id="rId1" Type="http://schemas.openxmlformats.org/officeDocument/2006/relationships/slideLayout" Target="../slideLayouts/slideLayout4.xml" 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 /><Relationship Id="rId1" Type="http://schemas.openxmlformats.org/officeDocument/2006/relationships/slideLayout" Target="../slideLayouts/slideLayout4.xml" 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 /><Relationship Id="rId1" Type="http://schemas.openxmlformats.org/officeDocument/2006/relationships/slideLayout" Target="../slideLayouts/slideLayout4.xml" 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 /><Relationship Id="rId1" Type="http://schemas.openxmlformats.org/officeDocument/2006/relationships/slideLayout" Target="../slideLayouts/slideLayout4.xml" 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 /><Relationship Id="rId1" Type="http://schemas.openxmlformats.org/officeDocument/2006/relationships/slideLayout" Target="../slideLayouts/slideLayout4.xml" 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 /><Relationship Id="rId1" Type="http://schemas.openxmlformats.org/officeDocument/2006/relationships/slideLayout" Target="../slideLayouts/slideLayout4.xml" 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 /><Relationship Id="rId1" Type="http://schemas.openxmlformats.org/officeDocument/2006/relationships/slideLayout" Target="../slideLayouts/slideLayout4.xml" 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 /><Relationship Id="rId1" Type="http://schemas.openxmlformats.org/officeDocument/2006/relationships/slideLayout" Target="../slideLayouts/slideLayout4.xml" 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 /><Relationship Id="rId1" Type="http://schemas.openxmlformats.org/officeDocument/2006/relationships/slideLayout" Target="../slideLayouts/slideLayout4.xml" 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 /><Relationship Id="rId1" Type="http://schemas.openxmlformats.org/officeDocument/2006/relationships/slideLayout" Target="../slideLayouts/slideLayout4.xml" 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 /><Relationship Id="rId1" Type="http://schemas.openxmlformats.org/officeDocument/2006/relationships/slideLayout" Target="../slideLayouts/slideLayout2.xml" 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 /><Relationship Id="rId1" Type="http://schemas.openxmlformats.org/officeDocument/2006/relationships/slideLayout" Target="../slideLayouts/slideLayout2.xml" 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 /><Relationship Id="rId1" Type="http://schemas.openxmlformats.org/officeDocument/2006/relationships/slideLayout" Target="../slideLayouts/slideLayout2.xml" 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 /><Relationship Id="rId1" Type="http://schemas.openxmlformats.org/officeDocument/2006/relationships/slideLayout" Target="../slideLayouts/slideLayout2.xml" 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 /><Relationship Id="rId1" Type="http://schemas.openxmlformats.org/officeDocument/2006/relationships/slideLayout" Target="../slideLayouts/slideLayout2.xml" 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 /><Relationship Id="rId1" Type="http://schemas.openxmlformats.org/officeDocument/2006/relationships/slideLayout" Target="../slideLayouts/slideLayout2.xml" 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 /><Relationship Id="rId1" Type="http://schemas.openxmlformats.org/officeDocument/2006/relationships/slideLayout" Target="../slideLayouts/slideLayout2.xml" 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3.xml" 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DF8DCD-BEC6-4B2A-AB64-41ADC363EB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Использование ITIL в разработке IT-сервиса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8599E8-4725-4824-914A-BFE035BA2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ITIL (</a:t>
            </a:r>
            <a:r>
              <a:rPr lang="ru-RU" dirty="0" err="1"/>
              <a:t>Information</a:t>
            </a:r>
            <a:r>
              <a:rPr lang="ru-RU" dirty="0"/>
              <a:t> </a:t>
            </a:r>
            <a:r>
              <a:rPr lang="ru-RU" dirty="0" err="1"/>
              <a:t>Technology</a:t>
            </a:r>
            <a:r>
              <a:rPr lang="ru-RU" dirty="0"/>
              <a:t> </a:t>
            </a:r>
            <a:r>
              <a:rPr lang="ru-RU" dirty="0" err="1"/>
              <a:t>Infrastructure</a:t>
            </a:r>
            <a:r>
              <a:rPr lang="ru-RU" dirty="0"/>
              <a:t> </a:t>
            </a:r>
            <a:r>
              <a:rPr lang="ru-RU" dirty="0" err="1"/>
              <a:t>Library</a:t>
            </a:r>
            <a:r>
              <a:rPr lang="ru-RU" dirty="0"/>
              <a:t>) — это ведущая международная библиотека лучших практик и рекомендаций по управлению ИТ-услугами (ITSM).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43061C-9367-44ED-8FA1-8E8031203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" y="0"/>
            <a:ext cx="12191942" cy="6858000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5EC3EFE-7944-4053-92BE-EA5772E68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51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431164-4DDC-44EB-8F84-0F0065C25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ITIL </a:t>
            </a:r>
            <a:r>
              <a:rPr lang="ru-RU" dirty="0"/>
              <a:t>и </a:t>
            </a:r>
            <a:r>
              <a:rPr lang="en-US" dirty="0"/>
              <a:t>ITSM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7BF20C-6209-4634-8907-2EFFCFE6A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ITSM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40E430-CB8F-49AA-91FA-B1F350FB5B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Общий подход к управлению IT-сервисами в организации, включающий планирование, предоставление, поддержку и улучшение ИТ-услуг.</a:t>
            </a:r>
          </a:p>
          <a:p>
            <a:r>
              <a:rPr lang="ru-RU" dirty="0"/>
              <a:t>Управление всеми процессами, связанными с этими сервисами.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8DCC4E7-DCE4-4A97-A4DD-B7756BA85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ITIL</a:t>
            </a:r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48A2558-5D4B-4B3D-882D-7B9C6738271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Конкретный набор практик и рекомендаций для управления IT-сервисами.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C81560-1375-46D9-B74C-2812C849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490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431164-4DDC-44EB-8F84-0F0065C25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ITSM</a:t>
            </a:r>
            <a:r>
              <a:rPr lang="ru-RU" dirty="0"/>
              <a:t> и </a:t>
            </a:r>
            <a:r>
              <a:rPr lang="en-US" dirty="0"/>
              <a:t>ITIL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7BF20C-6209-4634-8907-2EFFCFE6A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ITSM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40E430-CB8F-49AA-91FA-B1F350FB5B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Структура и подход к  управлению</a:t>
            </a:r>
          </a:p>
          <a:p>
            <a:endParaRPr lang="ru-RU" dirty="0"/>
          </a:p>
          <a:p>
            <a:r>
              <a:rPr lang="ru-RU" b="1" dirty="0"/>
              <a:t>«что нужно делать?»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8DCC4E7-DCE4-4A97-A4DD-B7756BA85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ITIL</a:t>
            </a:r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48A2558-5D4B-4B3D-882D-7B9C6738271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Набор инструкций</a:t>
            </a:r>
          </a:p>
          <a:p>
            <a:endParaRPr lang="ru-RU" dirty="0"/>
          </a:p>
          <a:p>
            <a:endParaRPr lang="ru-RU" dirty="0"/>
          </a:p>
          <a:p>
            <a:r>
              <a:rPr lang="ru-RU" b="1" dirty="0"/>
              <a:t>«как это делать?»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C81560-1375-46D9-B74C-2812C849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772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5381A-D427-484D-BAEB-3735A967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ITIL и его значение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9A86F1-B336-4C63-AF86-C1363049F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5AF1B1-DAC9-4C6C-A1CB-80C5008E0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35" y="1825623"/>
            <a:ext cx="11224591" cy="466725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154F1D-ACF9-4B3E-9534-5941227A3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529" y="1"/>
            <a:ext cx="12275058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1CB036-865B-446D-AC52-822DD6A2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15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F382A7-9B2F-4F11-86B6-878CDC145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49348" cy="1325563"/>
          </a:xfrm>
        </p:spPr>
        <p:txBody>
          <a:bodyPr/>
          <a:lstStyle/>
          <a:p>
            <a:r>
              <a:rPr lang="ru-RU" dirty="0"/>
              <a:t>Истоки и развитие </a:t>
            </a:r>
            <a:r>
              <a:rPr lang="en-US" dirty="0"/>
              <a:t>ITIL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6B6752-413A-48F5-A6CB-25D60B8EA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49348" cy="4351338"/>
          </a:xfrm>
        </p:spPr>
        <p:txBody>
          <a:bodyPr/>
          <a:lstStyle/>
          <a:p>
            <a:r>
              <a:rPr lang="ru-RU" dirty="0"/>
              <a:t>Созданный в 1980-х Британским агентством по вычислительной технике, ITIL включает 34 практики и признан мировым стандартом управления IT-услугами, применяемым в крупнейших компаниях, таких как IBM и </a:t>
            </a:r>
            <a:r>
              <a:rPr lang="ru-RU" dirty="0" err="1"/>
              <a:t>Microsoft</a:t>
            </a:r>
            <a:r>
              <a:rPr lang="ru-RU" dirty="0"/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7CA2F74-27B8-40A4-A5E7-759B39537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548" y="681037"/>
            <a:ext cx="5495926" cy="5495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43C23C-E72E-4778-8BA9-D529B40B2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6947" y="1"/>
            <a:ext cx="12285894" cy="6857998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F9590BF-C432-45B1-904B-748613B4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20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4E9404-FA13-48FC-86E5-EA63DE72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19EF223-64D3-48D7-93DE-A5DF113E71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5117" y="0"/>
            <a:ext cx="12342234" cy="6858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4A2D4B3-7EB2-481B-A8D1-78FA7B3D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119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1EA309-EA06-4009-B64E-C6DE0ED32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 основных компонента </a:t>
            </a:r>
            <a:r>
              <a:rPr lang="en-US" dirty="0"/>
              <a:t>ITIL 4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4418AA-2269-4A0E-86FD-3B44CD2F9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Четырехмерная модель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86E0414-406E-4BF5-B1BB-A36C174CDD2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>
                <a:solidFill>
                  <a:srgbClr val="0A0A0A"/>
                </a:solidFill>
                <a:latin typeface="Google Sans"/>
              </a:rPr>
              <a:t> 1) Организации и люди</a:t>
            </a:r>
          </a:p>
          <a:p>
            <a:r>
              <a:rPr lang="ru-RU" dirty="0">
                <a:solidFill>
                  <a:srgbClr val="0A0A0A"/>
                </a:solidFill>
                <a:latin typeface="Google Sans"/>
              </a:rPr>
              <a:t> 2) Информация и технологии</a:t>
            </a:r>
          </a:p>
          <a:p>
            <a:r>
              <a:rPr lang="ru-RU" dirty="0">
                <a:solidFill>
                  <a:srgbClr val="0A0A0A"/>
                </a:solidFill>
                <a:latin typeface="Google Sans"/>
              </a:rPr>
              <a:t> 3) Партнеры и поставщики</a:t>
            </a:r>
          </a:p>
          <a:p>
            <a:r>
              <a:rPr lang="ru-RU" dirty="0">
                <a:solidFill>
                  <a:srgbClr val="0A0A0A"/>
                </a:solidFill>
                <a:latin typeface="Google Sans"/>
              </a:rPr>
              <a:t> 4) Потоки создания ценности и процессы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EAD41BC-F822-48FD-AF0E-296B947F5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Система ценностей обслуживания (</a:t>
            </a:r>
            <a:r>
              <a:rPr lang="en-US" dirty="0"/>
              <a:t>SVS)</a:t>
            </a:r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DC2050AF-586C-4689-BD21-2BBABB6A74B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u="sng" dirty="0"/>
              <a:t>1) Принципы руководства</a:t>
            </a:r>
          </a:p>
          <a:p>
            <a:r>
              <a:rPr lang="ru-RU" u="sng" dirty="0"/>
              <a:t>2) Управление</a:t>
            </a:r>
          </a:p>
          <a:p>
            <a:r>
              <a:rPr lang="ru-RU" u="sng" dirty="0"/>
              <a:t>3) Цепочка создания стоимости услуг</a:t>
            </a:r>
          </a:p>
          <a:p>
            <a:r>
              <a:rPr lang="ru-RU" u="sng" dirty="0"/>
              <a:t>4) Улучшение обслуживания</a:t>
            </a:r>
          </a:p>
          <a:p>
            <a:r>
              <a:rPr lang="ru-RU" u="sng" dirty="0"/>
              <a:t>5) Практики</a:t>
            </a:r>
          </a:p>
          <a:p>
            <a:endParaRPr lang="ru-RU" u="sng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C402495-64B1-4767-87B8-EEFECDE0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099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007DCEA-77BF-4088-A0A5-E5FDE74A3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принципы </a:t>
            </a:r>
            <a:r>
              <a:rPr lang="en-US" b="1" dirty="0"/>
              <a:t>ITIL 4</a:t>
            </a:r>
            <a:endParaRPr lang="ru-RU" dirty="0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ACDEE708-AAE0-4E2D-949B-E2F486EA5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1. Фокус на ценности</a:t>
            </a:r>
            <a:endParaRPr lang="en-US" dirty="0"/>
          </a:p>
          <a:p>
            <a:endParaRPr lang="ru-RU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6F0F8365-7AB1-4607-97BB-5A9F944298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Всё, что делает IT, должно приносить ощутимую пользу клиентам и бизнесу. Не делайте ничего «для галочки».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5C60523E-4449-4DA3-BDA4-81B93D944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2. Начинай там, где ты находишься</a:t>
            </a:r>
            <a:endParaRPr lang="en-US" dirty="0"/>
          </a:p>
          <a:p>
            <a:endParaRPr lang="ru-RU" dirty="0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DD1DC5F5-1C65-4F5A-AE86-65F7D52D7E5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 нужно ломать работающие процессы и начинать с нуля. Используйте то, что уже есть, и улучшайте постепенно.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79A50E-2504-4950-AE7B-44D180EC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811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7510AB-F204-4CBB-9F60-B3DA65FE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принципы </a:t>
            </a:r>
            <a:r>
              <a:rPr lang="en-US" b="1" dirty="0"/>
              <a:t>ITIL 4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6791D20-07B3-442D-9F84-3450E8633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562629"/>
            <a:ext cx="5157787" cy="823912"/>
          </a:xfrm>
        </p:spPr>
        <p:txBody>
          <a:bodyPr/>
          <a:lstStyle/>
          <a:p>
            <a:r>
              <a:rPr lang="ru-RU" dirty="0"/>
              <a:t>3. Прогрессируй итеративно с обратной связью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C8B816-A108-404A-9E4E-F24664A882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Двигайтесь маленькими шагами, регулярно получая обратную связь и корректируя курс.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18F51ED-B3E4-4EC4-BE7C-533D08CF6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4. Сотрудничай и делай прозрачно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3100D3-FFD4-4892-B329-1897DBFE732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Вовлекайте все заинтересованные стороны (бизнес, разработку, эксплуатацию) и делайте информацию доступной.</a:t>
            </a:r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DBACF9-7BEF-41C6-AC29-1BCE8DE6A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001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E39FD4-E806-4F37-A3F6-0764B41FB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принципы </a:t>
            </a:r>
            <a:r>
              <a:rPr lang="en-US" b="1" dirty="0"/>
              <a:t>ITIL 4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EB0745-FCEE-48C3-B05B-4CB97F80D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5. Думай и работай системно</a:t>
            </a:r>
            <a:endParaRPr lang="en-US" dirty="0"/>
          </a:p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B851DD-26C3-491B-9CD9-6932F24D8D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Рассматривайте ИТ-сервисы не изолированно, а как часть единой системы, влияющей на бизнес в целом.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7851BA2-A79B-4560-AC90-F204E3B15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6. Оптимизируй и автоматизируй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3C874E4-DD48-4C2F-B01F-BDBA658EFE3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Сначала упростите процесс, уберите лишнее, а только потом автоматизируйте то, что осталось.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04E877-3CC9-438F-B153-D0500F5E0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440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988D96-62C7-4313-94F9-9F39648DB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принципы </a:t>
            </a:r>
            <a:r>
              <a:rPr lang="en-US" b="1" dirty="0"/>
              <a:t>ITIL 4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3680BD-4929-4209-9329-4413577ED3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7. Развивай и передавай знания</a:t>
            </a:r>
          </a:p>
          <a:p>
            <a:endParaRPr lang="ru-RU" b="1" dirty="0"/>
          </a:p>
          <a:p>
            <a:pPr marL="0" indent="0">
              <a:buNone/>
            </a:pPr>
            <a:endParaRPr lang="ru-RU" b="1" dirty="0"/>
          </a:p>
          <a:p>
            <a:endParaRPr lang="ru-RU" b="1" dirty="0"/>
          </a:p>
          <a:p>
            <a:endParaRPr lang="ru-RU" b="1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B51B2A-28AA-4CB2-88FA-5EE6242E50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Постоянно накапливайте опыт и делайте его доступным для всех. Избегайте излишней сложности.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7F6FA7-CB81-4083-9386-942081A48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084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1282D48-6E19-49B1-ACE7-2530EE5A3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Ключевые практики </a:t>
            </a:r>
            <a:r>
              <a:rPr lang="en-US" b="1" dirty="0"/>
              <a:t>ITIL 4</a:t>
            </a:r>
            <a:endParaRPr lang="ru-RU" dirty="0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4FE2C712-55BB-4733-99C8-853D52032E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В ITIL 4 бизнес-процессы преобразованы в </a:t>
            </a:r>
            <a:r>
              <a:rPr lang="ru-RU" b="1" dirty="0"/>
              <a:t>34 практики</a:t>
            </a:r>
            <a:r>
              <a:rPr lang="ru-RU" dirty="0"/>
              <a:t>, которые охватывают управление сервисами, технологиями и организационными аспектами.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7EB6DC88-AE07-42F4-837B-69469612A7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Практики ITIL 4 разделены на </a:t>
            </a:r>
            <a:r>
              <a:rPr lang="ru-RU" b="1" dirty="0"/>
              <a:t>3 группы.</a:t>
            </a:r>
          </a:p>
          <a:p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BCDDAE-41D9-4FB0-BD8C-99D0D54E7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488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31E5F-A593-4C24-A1B0-DE27C444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группы практик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9462EB5-CF67-4C3D-A5A9-9AF4791B4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Группа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77878F-BDBA-4A52-B7BE-123BD4D1FB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1. </a:t>
            </a:r>
            <a:r>
              <a:rPr lang="ru-RU" b="1" dirty="0"/>
              <a:t>Практики общего менеджмента - </a:t>
            </a:r>
            <a:r>
              <a:rPr lang="ru-RU" dirty="0"/>
              <a:t>14 штук.</a:t>
            </a:r>
          </a:p>
          <a:p>
            <a:endParaRPr lang="ru-RU" dirty="0"/>
          </a:p>
          <a:p>
            <a:r>
              <a:rPr lang="ru-RU" dirty="0"/>
              <a:t>2. </a:t>
            </a:r>
            <a:r>
              <a:rPr lang="ru-RU" b="1" dirty="0"/>
              <a:t>Практики управления сервисами - </a:t>
            </a:r>
            <a:r>
              <a:rPr lang="ru-RU" dirty="0"/>
              <a:t>17 штук.</a:t>
            </a:r>
          </a:p>
          <a:p>
            <a:r>
              <a:rPr lang="ru-RU" dirty="0"/>
              <a:t>3. </a:t>
            </a:r>
            <a:r>
              <a:rPr lang="ru-RU" b="1" dirty="0"/>
              <a:t>Практики управления технологиями - </a:t>
            </a:r>
            <a:r>
              <a:rPr lang="ru-RU" dirty="0"/>
              <a:t>3 штуки.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B80BF94-21A9-47BB-9151-4AB327D55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Назначение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15BD550-DED3-4800-9B22-854EBA11EB5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Управление стратегией, архитектурой, персоналом, безопасностью и т.д.</a:t>
            </a:r>
          </a:p>
          <a:p>
            <a:r>
              <a:rPr lang="ru-RU" dirty="0"/>
              <a:t>Инциденты, проблемы, изменения, запросы и др.</a:t>
            </a:r>
          </a:p>
          <a:p>
            <a:r>
              <a:rPr lang="ru-RU" dirty="0"/>
              <a:t>Разработка ПО, управление инфраструктурой и платформами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306FDF-3D51-4DB1-9DB3-67BD0226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4192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3E10A-FD87-499D-BEC6-118E1F0AF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Процессы и регламенты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2DCC68-F720-48EA-81EF-F15F1F214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Процесс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08C425-09A7-4B1F-AF4E-E4EB5E09FC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Ряд взаимосвязанных действий, выполняющихся для реализации поставленной цели.</a:t>
            </a:r>
          </a:p>
          <a:p>
            <a:r>
              <a:rPr lang="ru-RU" dirty="0"/>
              <a:t>Предоставляют возможность влиять на создание, улучшение ИТ-услуг.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7A027E3-9D93-4948-8DE3-A0F9BA9DF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Регламент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EBD3886-A5B5-4F32-901B-C673DD4F4F6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Формализованное описание порядка выполнения конкретного процесса или его части.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45A456-C186-48FC-932D-1A634FBCF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226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6A2AF-F417-439C-A62D-39AA7A133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E43189-4D07-493A-ADA3-1DBC6B018F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2464C3-8139-48BE-B44D-784B9DE8D4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5D4243-8A03-4C8E-9FBB-67B593922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580" y="0"/>
            <a:ext cx="12217160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4D2FFC-EC89-4407-9A56-973D769F6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372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7EF352-FB73-4F46-939F-0361D2174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347D3B-B89D-4257-B9BB-C76359A13B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AA51B3-8E73-498E-9F85-98F2C6CA825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03B138-084C-4512-ADCA-B79AF7261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1998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3A6C28-2F65-48AC-A9F5-E74268D06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262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C832958D-DB85-483E-8F76-DE822A4C8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ru-RU" dirty="0"/>
              <a:t>Структура регламента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C72767D3-10BA-4A72-9CC8-BA2F455E9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5012532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Название.</a:t>
            </a:r>
          </a:p>
          <a:p>
            <a:r>
              <a:rPr lang="ru-RU" b="1" dirty="0"/>
              <a:t>Цель.</a:t>
            </a:r>
            <a:r>
              <a:rPr lang="ru-RU" dirty="0"/>
              <a:t> Описание того, что процесс </a:t>
            </a:r>
            <a:r>
              <a:rPr lang="ru-RU"/>
              <a:t>принесёт бизнесу, его </a:t>
            </a:r>
            <a:r>
              <a:rPr lang="ru-RU" dirty="0"/>
              <a:t>ценность для бизнеса.</a:t>
            </a:r>
          </a:p>
          <a:p>
            <a:r>
              <a:rPr lang="ru-RU" b="1" dirty="0"/>
              <a:t>Область применения. </a:t>
            </a:r>
            <a:r>
              <a:rPr lang="ru-RU" dirty="0"/>
              <a:t>Четкое определение того, на какие ИТ-сервисы, инфраструктуру и пользователей распространяется регламент, а что находится вне его. Взаимосвязи. Как данный процесс взаимодействует с другими (например, передача инцидента в управление проблемами).</a:t>
            </a:r>
          </a:p>
          <a:p>
            <a:r>
              <a:rPr lang="ru-RU" b="1" dirty="0"/>
              <a:t>Ценность.</a:t>
            </a:r>
            <a:r>
              <a:rPr lang="ru-RU" dirty="0"/>
              <a:t> Для чего применяется. Что обслуживает. Предполагаемый результат. </a:t>
            </a:r>
          </a:p>
          <a:p>
            <a:r>
              <a:rPr lang="ru-RU" b="1" dirty="0"/>
              <a:t>Входы.</a:t>
            </a:r>
            <a:r>
              <a:rPr lang="ru-RU" dirty="0"/>
              <a:t> Триггеры, запускающие процесс (например, звонок пользователя).</a:t>
            </a:r>
          </a:p>
          <a:p>
            <a:r>
              <a:rPr lang="ru-RU" b="1" dirty="0"/>
              <a:t>Выходы.</a:t>
            </a:r>
            <a:r>
              <a:rPr lang="ru-RU" dirty="0"/>
              <a:t> Результат процесса.</a:t>
            </a:r>
          </a:p>
          <a:p>
            <a:r>
              <a:rPr lang="ru-RU" b="1" dirty="0"/>
              <a:t>Краткое описание последовательности действий. 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E02819-2ADF-4E61-9DCA-725CA826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064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37657-79C7-493B-B318-1857C10B5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D2A823-170C-4A57-8736-780FD7E347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144541-5100-43B2-A398-90E37C837E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D4B773-2C1E-4737-84A0-B704F1A0A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EB4A65-1599-4A64-9361-BF007101F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834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694A9-5E6B-4B9E-AA69-52157D947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46C4B0-4DE5-48CB-9339-207907593C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ADC60B-3FC7-4C26-917B-DA8F82B5C0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F2C6E0-2D54-4664-AF60-174C5B241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580" y="0"/>
            <a:ext cx="12217160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63007D-E4CF-42B0-84EC-BD5093C70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079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9D9C94-B7AC-4C5B-955F-8F3B47502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BAA25-3765-4FBE-8BA7-5F911F7198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998654-DA7C-4A82-9BDB-41922465A8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FFCCA9-786E-40C3-A6B3-F10FADD14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34" y="0"/>
            <a:ext cx="12215668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4F7771-04A1-4112-99C8-7667FF857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1549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80A9D-1A64-4B73-ACE8-65FDA73BF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B42FC3-5516-44CC-8364-5404505426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5C07F7-A760-41F4-B2DE-E9580FCF85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9DD943-0CEA-4F2D-890E-9E04FD957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D3DF28-4CD5-4BB7-A658-D8770E6BF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611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EBCBE-B4D2-4AF0-8997-88B07196A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201620"/>
          </a:xfrm>
        </p:spPr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Стандартный жизненный цикл инцидента в ITIL, обеспечивающий системность и прозрачность при управлении проблемами IT-сервисов</a:t>
            </a:r>
            <a:br>
              <a:rPr lang="ru-RU" dirty="0"/>
            </a:b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C8E555-74F0-4721-883F-2F5AA5F70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6EB6F41-B87B-4E5E-9C46-2E5C9E9CD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42" y="2566745"/>
            <a:ext cx="11404916" cy="286909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C99896D-A188-4D10-BA35-B481B2DF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20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AFCB75-DBBB-4D75-A979-8A5BEC511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66AD3D-F687-4F2E-BB84-FA618B6CAD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C48313-4140-4159-91D7-DFB44AC817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71173B-8D06-463E-A261-2DE3733F9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98A409-7190-4423-9B1A-812B5CA36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897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A1541D-02F7-4AF8-93B1-10D604AEA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1549B1-2C63-4E2E-9E69-CF4C8F06E5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4603A3-ABBA-44F7-AFF4-BF8F91F4EB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FDDB4E-CBE7-4FC4-8070-1BCB68FCF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25EADC-1C4B-4990-9917-DD2FE56CC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594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1A1C6-6BED-46FF-BE91-4234919F3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634473-D769-45ED-90A3-A3A1A430C8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C933B5-DCFF-422F-965D-2925F4655F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88E157-8BEA-41EC-9ED5-4CCDB4C64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2C6898-21C7-477F-8A03-78DCBE536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583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239890-00A0-45E9-9371-1884A99E4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B096E0-D4BC-47AE-B6EC-638CA0AA43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D8B8BF-8573-40C6-BF21-B14099A80F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5A3BD5-371C-4C0A-9780-0503D28FB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1998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2E38A5-0AF4-47BC-A9D8-90FAFD57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795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155DB-D140-42FC-91C5-86841813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этапы процесса обработки запросов на обслуживание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2DE295-F603-44FF-881D-CDA4D799FB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62149-833D-452A-904A-B59C4292E8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0012C2-F28D-4195-A101-BE90236F0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86" y="2641601"/>
            <a:ext cx="11945428" cy="15747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20AA0F-0C40-44B3-8F06-ED244F8E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0236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A58D99-B00B-4F65-9D54-10D4EED3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89509C-03EE-4EE0-9481-39E5249D04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8DE795-534D-4D6F-AD9E-644577BD11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92EE98-E908-47A3-BDE1-5A16BD3F8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04CD0E-0244-49C1-BA86-B1B7FF03F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56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845D5E-D225-45D7-A0E2-4AD6335E8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7DDF05-B2DD-4664-A7BC-A4149BB12A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29E1FD-8420-4F46-8ADD-7A8769B15D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A405B0-4E8B-4F9A-BB54-3333A00A1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CB4E3E-F324-46E4-B66E-65F8C7ED4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6171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DA6A5-2679-4BA1-8E1E-B3B295CD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141E7C-16F7-424A-A227-8056ABC0BF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72B670C-675C-4050-B090-AE3ED0BC62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5ABF67-326E-47A0-A87B-D0CBF53FA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896004-5B50-4804-9F9D-477235F5A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147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A31888-8050-461A-B7B5-847E661BC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087FFF-8DB5-4791-B1F1-6943B1CC33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978F68-2F38-446C-993D-96AEAC94AD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CEAC90-3F3A-4751-880B-D745A9EE7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6D1EB1-A12F-4B1E-BBEB-9C59E29E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088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285CD3-D7F1-42A7-998B-AEFF596AE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BDCFCC-5345-4FB6-8D25-6532A80CFF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003714-3F58-43D9-90A6-3E6450E82C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3B8711-FA44-4089-A4A5-00854C3E0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036133A-84CE-4F35-9D07-4E420119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78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16AE8-7B84-4838-BF12-A9A5A2BBA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19C11B-BFCE-4E0F-9F73-E26878FAAB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836F8D-8A00-444E-8B1E-E44B7A13F0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810D54-C0CC-4EA0-8F6F-DEA421E01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1998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1A87B0-83E3-4122-BC13-01983187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2812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45E17-C31C-4EFC-ACC5-E1AD1D510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FA06B5-BCE4-496D-AB35-37AFA400C3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0D5E52-CF16-4016-9753-8E9A915446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2EA655-1A98-4894-98B8-C2C4A85A8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1998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DE89BE-964D-4EF8-BD1B-33CA7C099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4910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01BF4F-1407-4C1C-908A-C9AFD98AB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процесса управления изменениями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9DE5F3-8DAE-47A0-A07A-7129AB1DFC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91225A-B1FC-4ACB-9EB3-EB496F97A1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E432A9-EB3C-44B1-B89B-B6F74ACB0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7" y="2641599"/>
            <a:ext cx="12005286" cy="1591733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3191E4-6751-44BC-89B7-11D828859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4394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CC9B02-B346-448A-90DD-9668AFAC2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6D6278-0771-42D6-82D7-B1F9ACD1FB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A12555-5910-4A86-824B-1309516565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E4DDE2-D155-4B82-8A55-98CAA067E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58" y="365125"/>
            <a:ext cx="11935484" cy="612775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848070-929C-4231-955B-9AD0D67CD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769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CEDC93-36B3-44EC-9C99-01FC59FC1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AFC5B9-3E9D-43F7-BEDA-E533AE951C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75527A-2EA5-4076-9B7D-08C9C1527E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B3FA66-7B23-4A54-A530-29CED8820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E939D2-31F3-4B5E-93FC-DA875A6D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7453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5CE37-862F-44E9-BB8D-7C63027E1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FDB85D-C05F-489B-AA52-C044C14219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885E08-EA52-4F86-872E-914043D2C5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8CF3E5-9763-4A8C-A7A2-13ADE915F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BD46F0-9125-4396-8D5E-ED9E7257D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3310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8436AF-A3D4-4868-897A-4B4A0306C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01609-D442-4B3B-835B-0E23F7CC76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B5243B-ECAF-460F-B610-318796FE55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CA23BE-1132-4967-8E23-ECF185B93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86A0FB-FF43-42A8-8029-B0384B91A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745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3A0F3B-5D7F-4EFE-8BB6-0BA5594F6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3C0A29-3F79-403A-B3A5-DD79175CA1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021E41-80AC-4437-94E1-9DA33CE8B1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2F8045-D0BB-42AF-8328-7D5200C4C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1998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B485FB-527F-4E93-A21A-5AAA929A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6087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78D004-B7D1-46F6-9991-5EE4A645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2D58E1-142B-44A8-8C97-748077802E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AA486FB-4B92-4255-9EA4-FB7033B433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07861B-51BF-4E0C-B390-FD214893A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D025D2-5EF5-4295-8F0A-C54F5484F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7159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903459-DAD3-4104-AF4B-2071C06E4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1E5A9B-9F44-4D0C-94D6-2E6B4C973C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5A8775-B770-4468-A85A-38EDD7E74B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D9A690E-83BB-4F55-A4E2-B9527D044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6B8523-5071-4552-884D-F529F72CE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8025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88F458-2DF8-4F0A-9E3B-EA807F8C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3722AE-B99E-42A3-9FCF-6C56EEEF32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74BBEE-4AE1-44CA-B7D4-DBDE70369E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FE7BCE-2591-4AC6-9D52-5910D4758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F7CDFD-2DA9-4F1E-A4B5-4294D570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9585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62D5FA-0663-4414-A760-A8E8334AF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8C2F3A-373C-42BD-AF7C-4DBEC81119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8B8E7F-5D6F-4795-BCA6-F4232018A2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85D3C82-9DBE-4F4D-87A7-B4DF600E6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C97D95D-54D7-4517-8055-531B7517B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87027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AEF16-4512-4742-84B6-C19B9FE69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96DAD5-2BB9-4EA1-8180-7734201BCE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FBEA66-BFDC-4857-98C2-E1E5674BE3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3B96BE-664A-44F3-AA8E-29639313C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3CA049-4A72-441F-8F87-C61CC7D7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6816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2FC99-D15C-45BC-BC29-070A8CB0A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E5F282-EF74-4E29-8B71-4CB08800F8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FDBDF8-AEB9-42F2-ADA5-8666EE9E65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7FE675-3434-4B80-90C7-7EC8491FC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AED464-CCE0-4D96-8363-2DA98944B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8842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BDD317-0401-48A8-B639-1649B190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83DC8C-B09B-4718-9B4D-668305AEDD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C0C47F-D71A-4AEB-8B0A-72D55BEA94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FAA07B-1BD5-4148-87C4-34BAE5851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833265-AFB2-4779-ACA2-8DD598F6C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5442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95029-F37D-4B55-98EC-62E489F62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BEE984-C782-46BF-9A71-C16F5FAD75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6466CE-B59F-4BFE-B734-038610974B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9812CE-237D-4088-BF41-98B0C372D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47" y="365125"/>
            <a:ext cx="11816106" cy="612775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7B1A-2DB9-459D-81A5-6DEBA9F4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209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64F8E1-C418-4897-A614-E8AD4845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FE33F4-8692-4748-9C1A-C59A808430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4AD4CC-74C5-46E6-BF79-8F51785203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F13149-6169-4D50-93EE-3D6BB0DA5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1998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95A1F7-A7C6-4B55-80F8-86D44D108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8037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14AF08-D4F2-4F25-9C45-238260E5E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8F4B2F-E2CE-463B-809B-9BD0F9D969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2A19B2-5EC3-4D5C-9DA5-3257BA6FCA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D18CCA-7EFE-4CF3-A6C4-52BE65D6D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E39224-F86C-47E1-B8BE-73CC4F9EC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3971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C007B1-73AC-4D80-BCE1-B2B420198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C63A6B-C996-45EB-8B34-0E70260206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23AAF6-B96C-4B66-A323-A867B9F38C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7118D0-71FA-4A97-9F4F-A9B10CE4E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7FFBBC-F36A-4D74-93D4-36F9E2DA1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6805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0228F-6E80-4676-9992-2D942A41B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E20FF3-335D-46AA-95AE-BC6268A3F1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C48AD91-4C0B-4A98-93A1-3FEE5C0586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2CE254-DFB1-4E38-BFE1-1A4DB966A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532" y="0"/>
            <a:ext cx="12429064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3F7F00-4B1E-42AD-9694-E8E63AEFB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30309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B05-10F8-4EA4-9C36-3262BE430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FAF2CA-6452-4C12-8904-16A18745EB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0015F8-B5EB-46CF-8C71-0AC6359734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0D04E4-D812-4020-BBD1-6D9CA047F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8E36D2-3FC7-422E-BBBA-09A9B9D0B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4364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2B740B-78FC-418E-91EF-5F22CE29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66B500-7565-4DD6-BB03-184FA48E3E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40CD4F-FF57-447F-98CE-5382DA351A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7EF109-1CAF-49F1-BDC7-B36280357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07BD4B-210E-42A6-9ADB-A435D8BD6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1820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45C95F-1A50-466E-BB77-CC48D0D08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E98A35-DF01-4A6F-B5E5-2D73B737D0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2E2133-AC58-4E3F-9ABF-F92F5863CF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B49278-74F1-4C6B-921B-16E1B5942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988098-1BE7-4D88-9E8E-2D45916A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4490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D0DF3-6C9F-4CC3-94AE-8C6751591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E2864B-1879-412C-BDB5-D0DA526B50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DC8FE4-1F28-448C-A1F5-F90448D04B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823256-91F0-46FD-BBF2-58EA386CD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2DC079-D359-4FE2-BA87-8F7F4359E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73087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93E47-B9F4-4E60-B069-6E3E619AD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ED6234-0507-4737-8141-021A558D96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BE2EBF-113B-4F52-B300-7B259C221B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2D4E3E-5902-4E70-A645-51377A87F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D040B9-5B55-4355-894D-6BA8ADF2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3061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C7F1A1-11B5-442A-9105-EFF9FC3BC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664D80-9053-4A0E-8B07-2C4A056106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B4DADF-E47C-4BAB-8F9C-4A3F6D01E0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AE7780-E5B7-41F3-A331-419D68CEF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CD1CE9-83E3-49B2-AD66-6A67DC0BC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58660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DC9E8-C5FE-4415-986E-26B68C31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843B63-D68C-4ECC-BC46-F3D7ABA78C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BC7323F-EECF-4B45-993E-27693221EB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3A33B2-9777-41B8-9357-A9DACE2E8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1998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E5D000-13C3-4FD8-AC01-EE45327E8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1633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F2800-7717-4CF6-8682-DB56B8848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9B9DF6-7259-4161-85BC-942ADA105B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A7FF19-FC8E-476B-B561-E9891D3E61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019125-03EB-4E49-ABEE-BEC6123A5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1D3DC0-6D49-4FDA-A542-AE506D15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3757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B91A24-1761-4635-B3F1-4E6E698AA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C6E2BC-B75F-4B32-B3A6-31463B9D1B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C25CF4-EA48-4264-A734-A3AB8E141F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081989-35C2-4AA9-A768-0B2B40457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48CD4A-DC92-4799-9875-AD9F10A66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3119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686061-8351-45F8-8D60-FC261E3D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D09DA0-D54B-4410-B1B5-570CB19A86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9CED67-AC7A-4EA8-A61D-A4CD4355B5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365612-C4E1-4DD9-B34D-89DBE8E75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BFAD8E-FD72-496E-96A8-3492293B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451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3EA636-597B-4DAB-B7C0-3B8DB1E6D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AFCE2A-F7BE-40CE-9448-968D92FB5C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2C11D1-37D2-404E-BA37-F08FCE178C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66E2D3-14E5-4876-B0C2-2E1273B33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568D36-F559-4371-96E5-15BDE751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0358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781C6-718A-4001-AC78-5BA899356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49306E-A1BE-44CE-A32D-459580CD6F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D8DFAE-D753-4B66-B9FB-2920A2EB87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2DCD08-45AF-48A0-822C-EE86B375B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1998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7890ED-AD77-4FCC-9F5E-E2BBCD046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1387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2267B0-9405-4B53-A69C-6D3EEB21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4F4D9E-1399-4A1F-B586-24C4C2E974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8A3483-5DF3-466F-A344-A28BAB9657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BAB46C-D315-4B68-805F-33BB4308E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1998" cy="68579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C37FE8-0738-4231-A6FB-DC18B383E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7287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1800E6-0C4C-4B00-9D5C-DEEB0356F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F90802-7C00-45D9-9387-514E7D6939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F8967DD-12C7-4FE9-AAF6-3898DFE191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D8204D-D65E-41F9-A62A-B4DCE554A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97B2C3-7483-4835-B7B5-A5734F65F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8447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0FA29-4C13-4068-A663-8BAA1930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9CD858-4192-4FA0-A85B-DD23765A22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7C2D50-10CE-440E-9A5A-4D593FFBF3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87C7F6-D204-4668-B82B-81AB08E21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87" y="681037"/>
            <a:ext cx="11045026" cy="4182532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37DC0B-131D-4B21-BD40-AF15BD6D1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2466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515FA-6028-44D7-ACA1-0B4595B21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36B285-ABAE-4E95-8CC0-5BD3A69DB3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B3AD47-DFFC-438D-9B7D-82C94C60E4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47D509-596F-4182-A43E-02D04BC90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533" y="0"/>
            <a:ext cx="12429066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22EEC3-9606-429E-AA40-DEDF9DC7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1860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93AE5-271B-458B-96D6-D038641E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C3AF0E-58C7-437E-95FA-588C488AF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1B7DF2-0ED2-4321-90A2-72FBD7FC9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22C984-9C3E-4B0A-889E-2D90DD71D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0511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90CE83-2FFF-4B04-8191-DCA8F244C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B3F050-B57F-4B1E-BF70-89D0399C5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706B7E8-7CF2-4169-AF31-DD5FA89DF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" y="106017"/>
            <a:ext cx="11950160" cy="6645966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CC49210-E47A-4F6A-8A80-22C9FC5F6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342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3F739C-8B0E-4F28-8871-0CB62982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0F0FB8-1071-4EA2-B1D3-E5206F547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CA832D-E9A4-4BDC-9A89-319BDEC5B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363" y="0"/>
            <a:ext cx="12238726" cy="6858000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BB60227-CE6C-41EE-B99D-E73C554F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1334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333E55-0EA5-4FBB-910B-9B2DDE58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4189A7-32F7-48D5-AF90-C604FE121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B66600-9FC6-4F80-87FA-7732FE181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73" y="1"/>
            <a:ext cx="12208746" cy="6857998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E599FB-E2D8-4F3A-9E1A-477956525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90569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8064FD-AD87-44EB-9364-8C58EC5F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AE8FDF-CFD0-446C-B6CD-3FF7B08F0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C1F644-8105-44F3-AE2E-C1CB433CB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972" y="0"/>
            <a:ext cx="12227944" cy="6858000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C94955-708A-45B2-88C8-5D975869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9292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3F94A6-39A7-406B-8B26-7C3653E8E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52460A-1EE1-48A5-8A85-DB27556BA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957877-115A-4A9F-BD75-382DCA560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36" y="350892"/>
            <a:ext cx="11767928" cy="6156216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5CF56C4-EC60-4BD1-B4DE-6BA03F12F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7368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EE137B-4E25-4BB4-B1D4-F97F2FA3E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36C14F-527F-4F89-8B83-BFEDAC292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D4C630-2A39-41D0-9C2A-1D5092EB8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193D58-6E19-4570-9006-E9AF6406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5558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5CC11-3869-4B0C-9F69-AAE281B3E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939FE1-B756-4CEE-BDC7-4B5BD2AE4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61701D-5561-4969-818D-C749343A6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7" y="92765"/>
            <a:ext cx="12057926" cy="6672470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79CB194-6491-4BF7-BE2F-22ACDA6BC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5641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B15933-F58D-4F49-9932-2DE1EE1C4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90A221-3769-4025-9D6C-D30F23A86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5E2D51-4C23-4D87-8368-E37A7B673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50" y="265043"/>
            <a:ext cx="12209500" cy="6327914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B54C85-ED12-474B-8FD1-9E0FC1380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6061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A923DDB-798E-40FC-A6BC-C2972DFD7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Итог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FA50CD7-5968-4A96-90A7-35E9260F7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Внедрение ITIL обеспечивает стандарты, прозрачность и снижение оперативных рисков, способствует улучшению качества и удовлетворённости клиентов, обеспечивая стабильный и эффективный рост IT-сервисов.</a:t>
            </a:r>
          </a:p>
          <a:p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9AA3316-912C-4FF8-B4E9-DC8B4AC5F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74120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098BE81-9010-4FF8-90AF-7FE6C71FF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5421AC9-0A97-421F-B2CF-C5DB42CBB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Формализовать процессы управления ИТ-услугами для проекта, разработанного вами в предыдущем задании. </a:t>
            </a:r>
          </a:p>
          <a:p>
            <a:r>
              <a:rPr lang="ru-RU" dirty="0"/>
              <a:t>Цель работы - продемонстрировать понимание принципов ITIL и умение применять процессный подход к конкретному проекту. 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618B76-BDD6-47A1-B9CF-D3A2B7FD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8073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4B34A7-EDA4-4D96-AF81-871669632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ru-RU" dirty="0"/>
              <a:t>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08B762-19DF-45D6-9009-FFDF186DD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524324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1. Описать релевантные ITIL-процессы, применимые к вашему проекту;</a:t>
            </a:r>
          </a:p>
          <a:p>
            <a:r>
              <a:rPr lang="ru-RU" dirty="0"/>
              <a:t>2. Построить матрицу ответственности (RACI или аналогичную);</a:t>
            </a:r>
          </a:p>
          <a:p>
            <a:r>
              <a:rPr lang="ru-RU" dirty="0"/>
              <a:t>3. Сформировать перечень регламентов по выбранным процессам;</a:t>
            </a:r>
          </a:p>
          <a:p>
            <a:r>
              <a:rPr lang="ru-RU" dirty="0"/>
              <a:t>4. Для каждого регламента указать:</a:t>
            </a:r>
          </a:p>
          <a:p>
            <a:r>
              <a:rPr lang="ru-RU" dirty="0"/>
              <a:t>   - его ценность для организации;</a:t>
            </a:r>
          </a:p>
          <a:p>
            <a:r>
              <a:rPr lang="ru-RU" dirty="0"/>
              <a:t>   - входы;</a:t>
            </a:r>
          </a:p>
          <a:p>
            <a:r>
              <a:rPr lang="ru-RU" dirty="0"/>
              <a:t>   - выходы.</a:t>
            </a:r>
          </a:p>
          <a:p>
            <a:r>
              <a:rPr lang="ru-RU" dirty="0"/>
              <a:t>Объем описаний должен быть достаточным для понимания логики процессов и их</a:t>
            </a:r>
            <a:br>
              <a:rPr lang="ru-RU" dirty="0"/>
            </a:br>
            <a:r>
              <a:rPr lang="ru-RU" dirty="0"/>
              <a:t>взаимосвязи. Ожидается структурированный документ с разделами и подзаголовками. 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CAF207-5FEB-4BCA-A88F-58BCF8121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1503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18855B-143A-4064-AAB5-84D039E27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ru-RU" dirty="0"/>
              <a:t>Описание </a:t>
            </a:r>
            <a:r>
              <a:rPr lang="en-US" dirty="0"/>
              <a:t>ITIL-</a:t>
            </a:r>
            <a:r>
              <a:rPr lang="ru-RU" dirty="0"/>
              <a:t>процессов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AD225E-5857-441E-8B1F-81D0096C0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67" y="1343818"/>
            <a:ext cx="11260665" cy="524324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Необходимо выбрать процессы, действительно актуальные для вашего проекта.</a:t>
            </a:r>
            <a:br>
              <a:rPr lang="ru-RU" dirty="0"/>
            </a:br>
            <a:r>
              <a:rPr lang="ru-RU" dirty="0"/>
              <a:t>Например:</a:t>
            </a:r>
            <a:br>
              <a:rPr lang="ru-RU" dirty="0"/>
            </a:br>
            <a:r>
              <a:rPr lang="ru-RU" dirty="0"/>
              <a:t>● Управление инцидентами;</a:t>
            </a:r>
            <a:br>
              <a:rPr lang="ru-RU" dirty="0"/>
            </a:br>
            <a:r>
              <a:rPr lang="ru-RU" dirty="0"/>
              <a:t>● Управление проблемами;</a:t>
            </a:r>
            <a:br>
              <a:rPr lang="ru-RU" dirty="0"/>
            </a:br>
            <a:r>
              <a:rPr lang="ru-RU" dirty="0"/>
              <a:t>● Управление изменениями;</a:t>
            </a:r>
            <a:br>
              <a:rPr lang="ru-RU" dirty="0"/>
            </a:br>
            <a:r>
              <a:rPr lang="ru-RU" dirty="0"/>
              <a:t>● Управление уровнем услуг;</a:t>
            </a:r>
            <a:br>
              <a:rPr lang="ru-RU" dirty="0"/>
            </a:br>
            <a:r>
              <a:rPr lang="ru-RU" dirty="0"/>
              <a:t>● Управление доступом;</a:t>
            </a:r>
            <a:br>
              <a:rPr lang="ru-RU" dirty="0"/>
            </a:br>
            <a:r>
              <a:rPr lang="ru-RU" dirty="0"/>
              <a:t>● Управление конфигурациями.</a:t>
            </a:r>
            <a:br>
              <a:rPr lang="ru-RU" dirty="0"/>
            </a:br>
            <a:r>
              <a:rPr lang="ru-RU" dirty="0"/>
              <a:t>Для каждого процесса требуется:</a:t>
            </a:r>
            <a:br>
              <a:rPr lang="ru-RU" dirty="0"/>
            </a:br>
            <a:r>
              <a:rPr lang="ru-RU" dirty="0"/>
              <a:t>● Краткое описание цели процесса;</a:t>
            </a:r>
            <a:br>
              <a:rPr lang="ru-RU" dirty="0"/>
            </a:br>
            <a:r>
              <a:rPr lang="ru-RU" dirty="0"/>
              <a:t>● Границы процесса;</a:t>
            </a:r>
            <a:br>
              <a:rPr lang="ru-RU" dirty="0"/>
            </a:br>
            <a:r>
              <a:rPr lang="ru-RU" dirty="0"/>
              <a:t>● Основные роли;</a:t>
            </a:r>
            <a:br>
              <a:rPr lang="ru-RU" dirty="0"/>
            </a:br>
            <a:r>
              <a:rPr lang="ru-RU" dirty="0"/>
              <a:t>● Ключевые этапы;</a:t>
            </a:r>
            <a:br>
              <a:rPr lang="ru-RU" dirty="0"/>
            </a:br>
            <a:r>
              <a:rPr lang="ru-RU" dirty="0"/>
              <a:t>● Связь с другими процессами.</a:t>
            </a:r>
            <a:br>
              <a:rPr lang="ru-RU" dirty="0"/>
            </a:br>
            <a:r>
              <a:rPr lang="ru-RU" dirty="0"/>
              <a:t>Важно показать, почему именно эти процессы критичны для вашего проекта. 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5CD5E3-623E-48D7-9FA0-E9C019715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98333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C61B3-668D-4D60-B076-9CFB2471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ru-RU" dirty="0"/>
              <a:t>Матрица ответственности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CF8BCB-2A18-4C8C-AACE-5C55945A6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67" y="1343818"/>
            <a:ext cx="11159066" cy="5192449"/>
          </a:xfrm>
        </p:spPr>
        <p:txBody>
          <a:bodyPr/>
          <a:lstStyle/>
          <a:p>
            <a:r>
              <a:rPr lang="ru-RU" dirty="0"/>
              <a:t>Необходимо построить матрицу ответственности по ключевым процессам или</a:t>
            </a:r>
            <a:br>
              <a:rPr lang="ru-RU" dirty="0"/>
            </a:br>
            <a:r>
              <a:rPr lang="ru-RU" dirty="0"/>
              <a:t>регламентам.</a:t>
            </a:r>
            <a:br>
              <a:rPr lang="ru-RU" dirty="0"/>
            </a:br>
            <a:r>
              <a:rPr lang="ru-RU" dirty="0"/>
              <a:t>В матрице должны быть:</a:t>
            </a:r>
            <a:br>
              <a:rPr lang="ru-RU" dirty="0"/>
            </a:br>
            <a:r>
              <a:rPr lang="ru-RU" dirty="0"/>
              <a:t>● Роли проекта;</a:t>
            </a:r>
            <a:br>
              <a:rPr lang="ru-RU" dirty="0"/>
            </a:br>
            <a:r>
              <a:rPr lang="ru-RU" dirty="0"/>
              <a:t>● Ключевые действия или этапы процесса;</a:t>
            </a:r>
            <a:br>
              <a:rPr lang="ru-RU" dirty="0"/>
            </a:br>
            <a:r>
              <a:rPr lang="ru-RU" dirty="0"/>
              <a:t>● Распределение ответственности по принципу RACI.</a:t>
            </a:r>
            <a:br>
              <a:rPr lang="ru-RU" dirty="0"/>
            </a:br>
            <a:r>
              <a:rPr lang="ru-RU" dirty="0"/>
              <a:t>Матрица должна демонстрировать отсутствие пересечений ответственности и</a:t>
            </a:r>
            <a:br>
              <a:rPr lang="ru-RU" dirty="0"/>
            </a:br>
            <a:r>
              <a:rPr lang="ru-RU" dirty="0"/>
              <a:t>логичность распределения ролей.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844F11-A969-4629-A9E7-914B7F45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87625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948456-1922-40C0-93BC-BAE50BCF0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67" y="18255"/>
            <a:ext cx="10515600" cy="1325563"/>
          </a:xfrm>
        </p:spPr>
        <p:txBody>
          <a:bodyPr/>
          <a:lstStyle/>
          <a:p>
            <a:r>
              <a:rPr lang="ru-RU" dirty="0"/>
              <a:t>Перечень регламентов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4E8B0B-2EDC-4265-BC0F-EB4A022BC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343818"/>
            <a:ext cx="11565467" cy="5226315"/>
          </a:xfrm>
        </p:spPr>
        <p:txBody>
          <a:bodyPr>
            <a:normAutofit/>
          </a:bodyPr>
          <a:lstStyle/>
          <a:p>
            <a:r>
              <a:rPr lang="ru-RU" dirty="0"/>
              <a:t>Для выбранных процессов необходимо сформировать перечень регламентов. Каждый</a:t>
            </a:r>
            <a:br>
              <a:rPr lang="ru-RU" dirty="0"/>
            </a:br>
            <a:r>
              <a:rPr lang="ru-RU" dirty="0"/>
              <a:t>регламент - это формализованное описание порядка выполнения конкретного</a:t>
            </a:r>
            <a:br>
              <a:rPr lang="ru-RU" dirty="0"/>
            </a:br>
            <a:r>
              <a:rPr lang="ru-RU" dirty="0"/>
              <a:t>процесса или его части.</a:t>
            </a:r>
            <a:br>
              <a:rPr lang="ru-RU" dirty="0"/>
            </a:br>
            <a:r>
              <a:rPr lang="ru-RU" dirty="0"/>
              <a:t>Регламент должен включать:</a:t>
            </a:r>
            <a:br>
              <a:rPr lang="ru-RU" dirty="0"/>
            </a:br>
            <a:r>
              <a:rPr lang="ru-RU" dirty="0"/>
              <a:t>● Название;</a:t>
            </a:r>
            <a:br>
              <a:rPr lang="ru-RU" dirty="0"/>
            </a:br>
            <a:r>
              <a:rPr lang="ru-RU" dirty="0"/>
              <a:t>● Цель;</a:t>
            </a:r>
            <a:br>
              <a:rPr lang="ru-RU" dirty="0"/>
            </a:br>
            <a:r>
              <a:rPr lang="ru-RU" dirty="0"/>
              <a:t>● Область применения;</a:t>
            </a:r>
            <a:br>
              <a:rPr lang="ru-RU" dirty="0"/>
            </a:br>
            <a:r>
              <a:rPr lang="ru-RU" dirty="0"/>
              <a:t>● Ценность;</a:t>
            </a:r>
            <a:br>
              <a:rPr lang="ru-RU" dirty="0"/>
            </a:br>
            <a:r>
              <a:rPr lang="ru-RU" dirty="0"/>
              <a:t>● Входы;</a:t>
            </a:r>
            <a:br>
              <a:rPr lang="ru-RU" dirty="0"/>
            </a:br>
            <a:r>
              <a:rPr lang="ru-RU" dirty="0"/>
              <a:t>● Выходы;</a:t>
            </a:r>
            <a:br>
              <a:rPr lang="ru-RU" dirty="0"/>
            </a:br>
            <a:r>
              <a:rPr lang="ru-RU" dirty="0"/>
              <a:t>● Краткое описание последовательности действий.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AFCADF-ABDA-42E9-B36E-AFFC8AB5D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29886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D9720-4BA0-4D93-9F69-A6A60569B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ru-RU" dirty="0"/>
              <a:t>Задача “со звездочкой”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B312A5-9C87-4D28-BE11-578CCB3E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7" y="1343818"/>
            <a:ext cx="11548533" cy="517551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Для получения повышенной оценки предлагается дополнительно выполнить</a:t>
            </a:r>
            <a:br>
              <a:rPr lang="ru-RU" dirty="0"/>
            </a:br>
            <a:r>
              <a:rPr lang="ru-RU" dirty="0"/>
              <a:t>расширенное задание.</a:t>
            </a:r>
            <a:br>
              <a:rPr lang="ru-RU" dirty="0"/>
            </a:br>
            <a:r>
              <a:rPr lang="ru-RU" dirty="0"/>
              <a:t>Необходимо:</a:t>
            </a:r>
            <a:br>
              <a:rPr lang="ru-RU" dirty="0"/>
            </a:br>
            <a:r>
              <a:rPr lang="ru-RU" dirty="0"/>
              <a:t>1. Построить карту взаимосвязей процессов - показать, как один процесс</a:t>
            </a:r>
            <a:br>
              <a:rPr lang="ru-RU" dirty="0"/>
            </a:br>
            <a:r>
              <a:rPr lang="ru-RU" dirty="0"/>
              <a:t>инициирует другой, какие входы и выходы передаются между ними</a:t>
            </a:r>
            <a:br>
              <a:rPr lang="ru-RU" dirty="0"/>
            </a:br>
            <a:r>
              <a:rPr lang="ru-RU" dirty="0"/>
              <a:t>2. Описать метрики эффективности для выбранных процессов:</a:t>
            </a:r>
            <a:br>
              <a:rPr lang="ru-RU" dirty="0"/>
            </a:br>
            <a:r>
              <a:rPr lang="ru-RU" dirty="0"/>
              <a:t>○ KPI</a:t>
            </a:r>
            <a:br>
              <a:rPr lang="ru-RU" dirty="0"/>
            </a:br>
            <a:r>
              <a:rPr lang="ru-RU" dirty="0"/>
              <a:t>○ SLA</a:t>
            </a:r>
            <a:br>
              <a:rPr lang="ru-RU" dirty="0"/>
            </a:br>
            <a:r>
              <a:rPr lang="ru-RU" dirty="0"/>
              <a:t>○ OLA</a:t>
            </a:r>
            <a:br>
              <a:rPr lang="ru-RU" dirty="0"/>
            </a:br>
            <a:r>
              <a:rPr lang="ru-RU" dirty="0"/>
              <a:t>3. Проанализировать риски при отсутствии формализованных регламентов</a:t>
            </a:r>
            <a:br>
              <a:rPr lang="ru-RU" dirty="0"/>
            </a:br>
            <a:r>
              <a:rPr lang="ru-RU" dirty="0"/>
              <a:t>4. Предложить механизм непрерывного улучшения процессов на основе цикла PDCA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A77314-E657-4708-9CB7-F7182DECD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6C1B-3DDC-4A84-836A-4184881890AD}" type="slidenum">
              <a:rPr lang="ru-RU" smtClean="0"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3812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2598</TotalTime>
  <Words>1936</Words>
  <Application>Microsoft Office PowerPoint</Application>
  <PresentationFormat>Широкоэкранный</PresentationFormat>
  <Paragraphs>304</Paragraphs>
  <Slides>84</Slides>
  <Notes>17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84</vt:i4>
      </vt:variant>
    </vt:vector>
  </HeadingPairs>
  <TitlesOfParts>
    <vt:vector size="85" baseType="lpstr">
      <vt:lpstr>Тема Office</vt:lpstr>
      <vt:lpstr>Использование ITIL в разработке IT-сервиса</vt:lpstr>
      <vt:lpstr>ITIL и ITSM</vt:lpstr>
      <vt:lpstr>ITSM и ITIL</vt:lpstr>
      <vt:lpstr>Определение ITIL и его значение</vt:lpstr>
      <vt:lpstr>Истоки и развитие ITIL</vt:lpstr>
      <vt:lpstr>Презентация PowerPoint</vt:lpstr>
      <vt:lpstr>2 основных компонента ITIL 4</vt:lpstr>
      <vt:lpstr>Основные принципы ITIL 4</vt:lpstr>
      <vt:lpstr>Основные принципы ITIL 4</vt:lpstr>
      <vt:lpstr>Основные принципы ITIL 4</vt:lpstr>
      <vt:lpstr>Основные принципы ITIL 4</vt:lpstr>
      <vt:lpstr>Ключевые практики ITIL 4</vt:lpstr>
      <vt:lpstr>Основные группы практик</vt:lpstr>
      <vt:lpstr>Процессы и регламенты</vt:lpstr>
      <vt:lpstr>Презентация PowerPoint</vt:lpstr>
      <vt:lpstr>Презентация PowerPoint</vt:lpstr>
      <vt:lpstr>Структура регламента</vt:lpstr>
      <vt:lpstr>Презентация PowerPoint</vt:lpstr>
      <vt:lpstr>Презентация PowerPoint</vt:lpstr>
      <vt:lpstr>Презентация PowerPoint</vt:lpstr>
      <vt:lpstr>Презентация PowerPoint</vt:lpstr>
      <vt:lpstr>Стандартный жизненный цикл инцидента в ITIL, обеспечивающий системность и прозрачность при управлении проблемами IT-сервисов </vt:lpstr>
      <vt:lpstr>Презентация PowerPoint</vt:lpstr>
      <vt:lpstr>Презентация PowerPoint</vt:lpstr>
      <vt:lpstr>Презентация PowerPoint</vt:lpstr>
      <vt:lpstr>Презентация PowerPoint</vt:lpstr>
      <vt:lpstr>Ключевые этапы процесса обработки запросов на обслуживание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Этапы процесса управления изменениями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Итог</vt:lpstr>
      <vt:lpstr>Задание</vt:lpstr>
      <vt:lpstr>Требования</vt:lpstr>
      <vt:lpstr>Описание ITIL-процессов </vt:lpstr>
      <vt:lpstr>Матрица ответственности </vt:lpstr>
      <vt:lpstr>Перечень регламентов </vt:lpstr>
      <vt:lpstr>Задача “со звездочкой”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Использование ITIL в разработке IT-сервиса</dc:title>
  <dc:creator>Uzver</dc:creator>
  <cp:lastModifiedBy>Арина Копытина</cp:lastModifiedBy>
  <cp:revision>9</cp:revision>
  <dcterms:created xsi:type="dcterms:W3CDTF">2026-03-08T03:20:16Z</dcterms:created>
  <dcterms:modified xsi:type="dcterms:W3CDTF">2026-03-10T08:09:38Z</dcterms:modified>
</cp:coreProperties>
</file>